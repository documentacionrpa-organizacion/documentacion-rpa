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58" r:id="rId5"/>
    <p:sldId id="260" r:id="rId6"/>
    <p:sldId id="261" r:id="rId7"/>
    <p:sldId id="270" r:id="rId8"/>
    <p:sldId id="271" r:id="rId9"/>
    <p:sldId id="272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3" r:id="rId1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82949-3025-4CCC-A789-2B97728F2C6F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E1BCF7-E06D-4CE3-8440-D0591BD890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1050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4A79C-7313-5130-EF84-D409B267B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8D40F7-6957-247F-C93B-B003A6D30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C6B79C-3A66-03DF-C659-F1C720BE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C92E-E46F-4B70-9315-57206A040DA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62EC1F-AE31-698C-0862-E94AC885F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EDAFF6-9473-D36D-18B2-EFEA1707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5486-C3E3-417C-933B-C62A47EE22D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3348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3BE03-961F-C8D9-22E4-F4370BDB2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099C60-4DEA-52A3-1635-3A1C84FDA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D0E4D1-8F01-71B6-30EA-6201500FE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C92E-E46F-4B70-9315-57206A040DA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314076-1502-BF28-570E-85D54DEE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3B7791-795D-0433-8E85-81F131A13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5486-C3E3-417C-933B-C62A47EE22D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2281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B10A6-3B28-A68C-6B01-F36D49869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80359B-F6D2-8950-BC06-3FEB7B067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1EC3EE-9F6E-DB9F-53DC-FA864E453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C92E-E46F-4B70-9315-57206A040DA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04D550-D511-A409-E39A-DFB8013F3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56F550-28F3-A2F7-94A8-B49904A7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5486-C3E3-417C-933B-C62A47EE22D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605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F173E6-0529-1557-8187-D5CB6D284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16BE20-FBC9-EEED-B984-B3BAEF149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EE9018-8A0F-1484-8CD4-2CD3AA2F7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6BB7E7-9B50-C51A-3D9B-31C04AB7C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C92E-E46F-4B70-9315-57206A040DA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F1480F-72D5-E9A3-11DB-29423EB6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AB7E61-F2C7-C06E-C3AB-367D2E090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5486-C3E3-417C-933B-C62A47EE22D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499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E71D7-A066-8E58-987E-ECD2E9F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4BB687-3C27-54E1-D198-EF0BBC5D4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0412CD-54A6-B86C-E735-CFD0FB874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717323-DE9C-9654-0273-A417B69BF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CA60FE5-1491-05A4-0EDA-BC8F49B3F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3F1152C-E36D-0F69-F933-3E5915BA9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C92E-E46F-4B70-9315-57206A040DA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8D3FDDC-8F5B-C49F-FF47-0A188176D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A1C69-153B-539A-B204-5CF4DDAF3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5486-C3E3-417C-933B-C62A47EE22D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033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3D88A-5C59-251D-6B4D-5DE0FFF89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B063D30-488E-21BD-F3C9-707F99873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C92E-E46F-4B70-9315-57206A040DA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7F95B8-5FBA-E097-D322-BFA726150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0A79D5D-D883-7A20-17EC-E5952110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5486-C3E3-417C-933B-C62A47EE22D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0840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0D35897-43CD-A6D0-EBEC-61844CE18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C92E-E46F-4B70-9315-57206A040DA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F7CF787-CF4F-A670-951F-8653F2BDB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821B2F-B714-E84F-4755-E320F148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5486-C3E3-417C-933B-C62A47EE22D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0711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4FEA46-B7F1-AA6A-8A6B-2C7495B26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31F8FA-2F55-63BE-C3CB-2BB362883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5DDB4A-02CD-10C2-5846-4E1976960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576DE4-C124-DA56-D4F4-FDB5749EF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C92E-E46F-4B70-9315-57206A040DA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6AAEAE-F509-F2A5-8DBE-4CEE694B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3EDF9B-6780-DB2D-528A-C53EFB417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5486-C3E3-417C-933B-C62A47EE22D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2743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498F82-6F4F-CDC3-DA11-CB27E29C2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C225A47-B4EA-685B-3F7B-74F1B66E5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5FEF023-5CAC-1245-6A0A-4D7C08475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F6815C-0448-3964-4C69-BCB1C9766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C92E-E46F-4B70-9315-57206A040DA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315FC4-1C4F-8D72-FE2A-AF5CED6F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E81E26-5578-EF68-D0CD-9FA5FE97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5486-C3E3-417C-933B-C62A47EE22D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228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E1A787-BFA0-BBCB-CA53-7DBE1D7F9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E2AA61-01E0-8922-522A-E1A7641F8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90CC09-0451-A8B1-30FE-C0D35973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C92E-E46F-4B70-9315-57206A040DA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B2712C-1CBF-5438-12F5-80BC028A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C8BC86-3446-1BCD-7CDB-BD3FE742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5486-C3E3-417C-933B-C62A47EE22D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11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78F9A9E-D855-0466-674A-AD36B256D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A63BEF-00C8-64B3-A463-5D2258862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BBF378-B403-F96C-2B5B-BA16ACCF7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C92E-E46F-4B70-9315-57206A040DA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3BC7F6-D6B7-38FF-309C-62A64783A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EDBB88-0496-3FCA-A03A-E21752C78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5486-C3E3-417C-933B-C62A47EE22D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5824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014C49-11C5-C6B2-FF49-FFC9E5EF6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16EFAA-F15B-EE3F-26AA-B5F5964F7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D07E88-072B-3C23-61BE-C1D89B2F8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3C92E-E46F-4B70-9315-57206A040DA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D9A02F-33B4-899B-E84E-AE402D698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5588FD-9F12-0D09-48DC-B415F3559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55486-C3E3-417C-933B-C62A47EE22D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8198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ipath.com/es/task-capture/standalone/2022.4/user-guide/details-about-the-pdd" TargetMode="External"/><Relationship Id="rId2" Type="http://schemas.openxmlformats.org/officeDocument/2006/relationships/hyperlink" Target="https://www.blueprintsys.com/blog/understanding-pdd-and-sd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F20BB1-1C1A-B55B-53EE-44E424CE0D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Formatos de entregables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8B7BF0-4B8C-405B-0C65-82BD352F7C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Documentación para RPA</a:t>
            </a:r>
          </a:p>
        </p:txBody>
      </p:sp>
    </p:spTree>
    <p:extLst>
      <p:ext uri="{BB962C8B-B14F-4D97-AF65-F5344CB8AC3E}">
        <p14:creationId xmlns:p14="http://schemas.microsoft.com/office/powerpoint/2010/main" val="69353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15993-4A63-2E16-B1FF-F62ECA231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PDD en RPA?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A975B1-E7C1-AB8D-AF59-1586EB3AF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Significa Documento de Definición de Procesos, en el se describen los procesos de negocio que se van a automatizar, proporcionando una guía detallada para que los desarrolladores creen soluciones automatizadas eficaces.</a:t>
            </a:r>
          </a:p>
        </p:txBody>
      </p:sp>
    </p:spTree>
    <p:extLst>
      <p:ext uri="{BB962C8B-B14F-4D97-AF65-F5344CB8AC3E}">
        <p14:creationId xmlns:p14="http://schemas.microsoft.com/office/powerpoint/2010/main" val="3790384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7E83D-896C-5FCC-2F12-5C9065287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Componentes de un PDD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674643-E030-59B8-72EE-52DE7B74D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Objetivo e introducción</a:t>
            </a:r>
          </a:p>
          <a:p>
            <a:r>
              <a:rPr lang="es-MX" dirty="0"/>
              <a:t>Aplicaciones que serán automatizadas</a:t>
            </a:r>
          </a:p>
          <a:p>
            <a:r>
              <a:rPr lang="es-MX" dirty="0"/>
              <a:t>Pasos del proceso a nivel general y detallados</a:t>
            </a:r>
          </a:p>
          <a:p>
            <a:r>
              <a:rPr lang="es-MX" dirty="0"/>
              <a:t>Excepciones y reglas de negocio</a:t>
            </a:r>
          </a:p>
          <a:p>
            <a:r>
              <a:rPr lang="es-MX" dirty="0"/>
              <a:t>Informes y seguimiento</a:t>
            </a:r>
          </a:p>
        </p:txBody>
      </p:sp>
    </p:spTree>
    <p:extLst>
      <p:ext uri="{BB962C8B-B14F-4D97-AF65-F5344CB8AC3E}">
        <p14:creationId xmlns:p14="http://schemas.microsoft.com/office/powerpoint/2010/main" val="81225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CC33B-7676-7F64-AD55-1EFAD06D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SDD en RPA?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516BD1-0D13-7431-9EE7-17AF620E6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Significa Documento de Diseño de la Solución y proporciona un plan detallado para implementar la solución automatizada. Es un plano técnico que utilizarán los desarrolladores para llevar a cabo la automatización.</a:t>
            </a:r>
          </a:p>
        </p:txBody>
      </p:sp>
    </p:spTree>
    <p:extLst>
      <p:ext uri="{BB962C8B-B14F-4D97-AF65-F5344CB8AC3E}">
        <p14:creationId xmlns:p14="http://schemas.microsoft.com/office/powerpoint/2010/main" val="2280884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4087F-F7C8-2FFD-0BEC-EFEF310A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Componentes de un SDD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96D85C-886C-E485-587E-1FEB9653A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Diseño de la arquitectura</a:t>
            </a:r>
          </a:p>
          <a:p>
            <a:r>
              <a:rPr lang="es-MX" dirty="0"/>
              <a:t>Aplicaciones involucradas</a:t>
            </a:r>
          </a:p>
          <a:p>
            <a:r>
              <a:rPr lang="es-MX" dirty="0"/>
              <a:t>Lógica de decisión y manejo de excepciones</a:t>
            </a:r>
          </a:p>
          <a:p>
            <a:r>
              <a:rPr lang="es-MX" dirty="0"/>
              <a:t>Depuración y medidas de seguridad</a:t>
            </a:r>
          </a:p>
          <a:p>
            <a:r>
              <a:rPr lang="es-MX" dirty="0"/>
              <a:t>Gestión de errores y excepciones</a:t>
            </a:r>
          </a:p>
        </p:txBody>
      </p:sp>
    </p:spTree>
    <p:extLst>
      <p:ext uri="{BB962C8B-B14F-4D97-AF65-F5344CB8AC3E}">
        <p14:creationId xmlns:p14="http://schemas.microsoft.com/office/powerpoint/2010/main" val="76329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6EF48-7F6F-517B-E9B6-74C5DA498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Contenido del formato PDD (</a:t>
            </a:r>
            <a:r>
              <a:rPr lang="es-MX" dirty="0" err="1"/>
              <a:t>UiPath</a:t>
            </a:r>
            <a:r>
              <a:rPr lang="es-MX" dirty="0"/>
              <a:t>)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90AEAD6D-18E1-811C-873C-7E55E6657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4444" y="1825625"/>
            <a:ext cx="3057113" cy="193657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D9030C9-9C83-584F-E30A-30DC71677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3396244" cy="18908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086B7C7-16D2-C417-CD9D-DEACB3A6A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966" y="1825625"/>
            <a:ext cx="3468258" cy="234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71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8A757-7698-C888-7377-1F98357C2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Introduction</a:t>
            </a:r>
            <a:r>
              <a:rPr lang="es-MX" dirty="0"/>
              <a:t>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E04129-A11B-FA2B-7CF1-4AE278317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Sección administrativa que establece el </a:t>
            </a:r>
            <a:r>
              <a:rPr lang="es-MX" b="1" dirty="0"/>
              <a:t>control y trazabilidad del documento</a:t>
            </a:r>
            <a:r>
              <a:rPr lang="es-MX" dirty="0"/>
              <a:t>. Contiene dos elementos principales:</a:t>
            </a:r>
          </a:p>
          <a:p>
            <a:r>
              <a:rPr lang="es-MX" b="1" dirty="0" err="1"/>
              <a:t>Version</a:t>
            </a:r>
            <a:r>
              <a:rPr lang="es-MX" b="1" dirty="0"/>
              <a:t> Control:</a:t>
            </a:r>
            <a:r>
              <a:rPr lang="es-MX" dirty="0"/>
              <a:t> registro histórico de cada versión del documento, indicando fecha, descripción del cambio y autor. Solo se versiona cuando el documento es compartido con un </a:t>
            </a:r>
            <a:r>
              <a:rPr lang="es-MX" dirty="0" err="1"/>
              <a:t>stakeholder</a:t>
            </a:r>
            <a:r>
              <a:rPr lang="es-MX" dirty="0"/>
              <a:t> principal.</a:t>
            </a:r>
          </a:p>
          <a:p>
            <a:r>
              <a:rPr lang="es-MX" b="1" dirty="0" err="1"/>
              <a:t>Document</a:t>
            </a:r>
            <a:r>
              <a:rPr lang="es-MX" b="1" dirty="0"/>
              <a:t> </a:t>
            </a:r>
            <a:r>
              <a:rPr lang="es-MX" b="1" dirty="0" err="1"/>
              <a:t>Review</a:t>
            </a:r>
            <a:r>
              <a:rPr lang="es-MX" b="1" dirty="0"/>
              <a:t> &amp; </a:t>
            </a:r>
            <a:r>
              <a:rPr lang="es-MX" b="1" dirty="0" err="1"/>
              <a:t>Sign</a:t>
            </a:r>
            <a:r>
              <a:rPr lang="es-MX" b="1" dirty="0"/>
              <a:t>-Off:</a:t>
            </a:r>
            <a:r>
              <a:rPr lang="es-MX" dirty="0"/>
              <a:t> tabla de aprobaciones donde los involucrados clave (como el Process SME) firman y validan el contenido del PDD antes de continuar con el desarrollo.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23134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5EAFDB-0BDD-2D89-76FD-5B10AF2B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As-</a:t>
            </a:r>
            <a:r>
              <a:rPr lang="es-MX" dirty="0" err="1"/>
              <a:t>Is</a:t>
            </a:r>
            <a:r>
              <a:rPr lang="es-MX" dirty="0"/>
              <a:t> Process </a:t>
            </a:r>
            <a:r>
              <a:rPr lang="es-MX" dirty="0" err="1"/>
              <a:t>Description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022C66-0126-893D-FE74-E5CECC718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/>
              <a:t>Documenta </a:t>
            </a:r>
            <a:r>
              <a:rPr lang="es-MX" b="1" dirty="0"/>
              <a:t>cómo se ejecuta el proceso As-</a:t>
            </a:r>
            <a:r>
              <a:rPr lang="es-MX" b="1" dirty="0" err="1"/>
              <a:t>Is</a:t>
            </a:r>
            <a:r>
              <a:rPr lang="es-MX" dirty="0"/>
              <a:t>, antes de cualquier automatización. Su objetivo es entender en detalle la operación actual e identificar oportunidades de mejora. Incluye:</a:t>
            </a:r>
          </a:p>
          <a:p>
            <a:r>
              <a:rPr lang="es-MX" dirty="0"/>
              <a:t>Descripción general del proceso de negocio</a:t>
            </a:r>
          </a:p>
          <a:p>
            <a:r>
              <a:rPr lang="es-MX" b="1" dirty="0"/>
              <a:t>Aplicaciones involucradas:</a:t>
            </a:r>
            <a:r>
              <a:rPr lang="es-MX" dirty="0"/>
              <a:t> qué sistemas se usan, cómo se accede a ellos (web, Citrix, API, aplicación de escritorio) y la URL o punto de entrada</a:t>
            </a:r>
          </a:p>
          <a:p>
            <a:r>
              <a:rPr lang="es-MX" b="1" dirty="0"/>
              <a:t>Diagramas del proceso actual</a:t>
            </a:r>
            <a:r>
              <a:rPr lang="es-MX" dirty="0"/>
              <a:t>, que pueden ser: </a:t>
            </a:r>
          </a:p>
          <a:p>
            <a:pPr lvl="1"/>
            <a:r>
              <a:rPr lang="es-MX" dirty="0"/>
              <a:t>Diagrama de flujo simple</a:t>
            </a:r>
          </a:p>
          <a:p>
            <a:pPr lvl="1"/>
            <a:r>
              <a:rPr lang="es-MX" dirty="0"/>
              <a:t>Diagrama </a:t>
            </a:r>
            <a:r>
              <a:rPr lang="es-MX" dirty="0" err="1"/>
              <a:t>cross-functional</a:t>
            </a:r>
            <a:r>
              <a:rPr lang="es-MX" dirty="0"/>
              <a:t> (</a:t>
            </a:r>
            <a:r>
              <a:rPr lang="es-MX" dirty="0" err="1"/>
              <a:t>swimlanes</a:t>
            </a:r>
            <a:r>
              <a:rPr lang="es-MX" dirty="0"/>
              <a:t> por rol)</a:t>
            </a:r>
          </a:p>
          <a:p>
            <a:pPr lvl="1"/>
            <a:r>
              <a:rPr lang="es-MX" dirty="0" err="1"/>
              <a:t>Value</a:t>
            </a:r>
            <a:r>
              <a:rPr lang="es-MX" dirty="0"/>
              <a:t> Stream </a:t>
            </a:r>
            <a:r>
              <a:rPr lang="es-MX" dirty="0" err="1"/>
              <a:t>Mapping</a:t>
            </a:r>
            <a:r>
              <a:rPr lang="es-MX" dirty="0"/>
              <a:t> con tiempos de ciclo</a:t>
            </a:r>
          </a:p>
          <a:p>
            <a:r>
              <a:rPr lang="es-MX" dirty="0"/>
              <a:t>Se resalta claramente </a:t>
            </a:r>
            <a:r>
              <a:rPr lang="es-MX" b="1" dirty="0"/>
              <a:t>qué pasos son manuales</a:t>
            </a:r>
            <a:r>
              <a:rPr lang="es-MX" dirty="0"/>
              <a:t> y cuáles ya están automatizados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15959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840333-F2F4-5FE2-4FC3-FDA97C0F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To</a:t>
            </a:r>
            <a:r>
              <a:rPr lang="es-MX" dirty="0"/>
              <a:t>-Be Process </a:t>
            </a:r>
            <a:r>
              <a:rPr lang="es-MX" dirty="0" err="1"/>
              <a:t>Description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4611E4-5540-7E5B-8BD2-7506A203F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/>
              <a:t>Representa </a:t>
            </a:r>
            <a:r>
              <a:rPr lang="es-MX" b="1" dirty="0"/>
              <a:t>cómo quedará el proceso después de la automatización</a:t>
            </a:r>
            <a:r>
              <a:rPr lang="es-MX" dirty="0"/>
              <a:t>. Se construye a partir del AS-IS, eliminando pasos manuales, rediseñando el flujo y definiendo exactamente qué hará el robot. Complementa al AS-IS con:</a:t>
            </a:r>
          </a:p>
          <a:p>
            <a:r>
              <a:rPr lang="es-MX" dirty="0"/>
              <a:t>El nuevo flujo del proceso con los pasos que ejecutará el </a:t>
            </a:r>
            <a:r>
              <a:rPr lang="es-MX" dirty="0" err="1"/>
              <a:t>bot</a:t>
            </a:r>
            <a:endParaRPr lang="es-MX" dirty="0"/>
          </a:p>
          <a:p>
            <a:r>
              <a:rPr lang="es-MX" b="1" dirty="0"/>
              <a:t>Reglas de negocio</a:t>
            </a:r>
            <a:r>
              <a:rPr lang="es-MX" dirty="0"/>
              <a:t> asociadas a cada paso, vinculadas directamente con las pantallas o acciones del proceso</a:t>
            </a:r>
          </a:p>
          <a:p>
            <a:r>
              <a:rPr lang="es-MX" dirty="0"/>
              <a:t>Identificación de </a:t>
            </a:r>
            <a:r>
              <a:rPr lang="es-MX" b="1" dirty="0"/>
              <a:t>excepciones conocidas</a:t>
            </a:r>
            <a:r>
              <a:rPr lang="es-MX" dirty="0"/>
              <a:t> (errores esperados como fallo de </a:t>
            </a:r>
            <a:r>
              <a:rPr lang="es-MX" dirty="0" err="1"/>
              <a:t>login</a:t>
            </a:r>
            <a:r>
              <a:rPr lang="es-MX" dirty="0"/>
              <a:t> o sistema no disponible) y cómo el </a:t>
            </a:r>
            <a:r>
              <a:rPr lang="es-MX" dirty="0" err="1"/>
              <a:t>bot</a:t>
            </a:r>
            <a:r>
              <a:rPr lang="es-MX" dirty="0"/>
              <a:t> debe reaccionar ante cada una</a:t>
            </a:r>
          </a:p>
          <a:p>
            <a:r>
              <a:rPr lang="es-MX" dirty="0"/>
              <a:t>Base para el desarrollo técnico que se detallará posteriormente en el SDD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24521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33C66-E333-BDEC-01D5-CFE823A1D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Contenido del formato SDD (</a:t>
            </a:r>
            <a:r>
              <a:rPr lang="es-MX" dirty="0" err="1"/>
              <a:t>UiPath</a:t>
            </a:r>
            <a:r>
              <a:rPr lang="es-MX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8FD718-29D5-F91B-74B2-CCEF5322E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/>
              <a:t>Introduction</a:t>
            </a:r>
            <a:endParaRPr lang="es-MX" dirty="0"/>
          </a:p>
          <a:p>
            <a:r>
              <a:rPr lang="es-MX" dirty="0"/>
              <a:t>Process </a:t>
            </a:r>
            <a:r>
              <a:rPr lang="es-MX" dirty="0" err="1"/>
              <a:t>Overview</a:t>
            </a:r>
            <a:endParaRPr lang="es-MX" dirty="0"/>
          </a:p>
          <a:p>
            <a:r>
              <a:rPr lang="es-MX" dirty="0" err="1"/>
              <a:t>Diagram</a:t>
            </a:r>
            <a:endParaRPr lang="es-MX" dirty="0"/>
          </a:p>
          <a:p>
            <a:r>
              <a:rPr lang="es-MX" dirty="0" err="1"/>
              <a:t>Design</a:t>
            </a:r>
            <a:endParaRPr lang="es-MX" dirty="0"/>
          </a:p>
          <a:p>
            <a:r>
              <a:rPr lang="es-MX" dirty="0" err="1"/>
              <a:t>Asset</a:t>
            </a:r>
            <a:r>
              <a:rPr lang="es-MX" dirty="0"/>
              <a:t> Management</a:t>
            </a:r>
          </a:p>
          <a:p>
            <a:r>
              <a:rPr lang="es-MX" dirty="0" err="1"/>
              <a:t>Queues</a:t>
            </a:r>
            <a:r>
              <a:rPr lang="es-MX" dirty="0"/>
              <a:t> &amp; </a:t>
            </a:r>
            <a:r>
              <a:rPr lang="es-MX" dirty="0" err="1"/>
              <a:t>Triggers</a:t>
            </a:r>
            <a:endParaRPr lang="es-MX" dirty="0"/>
          </a:p>
          <a:p>
            <a:r>
              <a:rPr lang="es-MX" dirty="0"/>
              <a:t>Code </a:t>
            </a:r>
            <a:r>
              <a:rPr lang="es-MX" dirty="0" err="1"/>
              <a:t>Dependencies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11399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8892C-66C4-5345-E150-92C39CDF4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Introduction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B107BB-59D0-88D4-3189-281F21CEE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Sección que explica qué es el SDD y para qué sirve. Describe el propósito del documento, quiénes lo elaboran (</a:t>
            </a:r>
            <a:r>
              <a:rPr lang="es-MX" dirty="0" err="1"/>
              <a:t>Solution</a:t>
            </a:r>
            <a:r>
              <a:rPr lang="es-MX" dirty="0"/>
              <a:t> </a:t>
            </a:r>
            <a:r>
              <a:rPr lang="es-MX" dirty="0" err="1"/>
              <a:t>Architect</a:t>
            </a:r>
            <a:r>
              <a:rPr lang="es-MX" dirty="0"/>
              <a:t> y </a:t>
            </a:r>
            <a:r>
              <a:rPr lang="es-MX" dirty="0" err="1"/>
              <a:t>Developer</a:t>
            </a:r>
            <a:r>
              <a:rPr lang="es-MX" dirty="0"/>
              <a:t>), a quién va dirigido (COE, soporte IT, </a:t>
            </a:r>
            <a:r>
              <a:rPr lang="es-MX" dirty="0" err="1"/>
              <a:t>bot</a:t>
            </a:r>
            <a:r>
              <a:rPr lang="es-MX" dirty="0"/>
              <a:t> </a:t>
            </a:r>
            <a:r>
              <a:rPr lang="es-MX" dirty="0" err="1"/>
              <a:t>controllers</a:t>
            </a:r>
            <a:r>
              <a:rPr lang="es-MX" dirty="0"/>
              <a:t>) y cómo debe mantenerse actualizado a lo largo del ciclo de desarrollo.</a:t>
            </a:r>
          </a:p>
        </p:txBody>
      </p:sp>
    </p:spTree>
    <p:extLst>
      <p:ext uri="{BB962C8B-B14F-4D97-AF65-F5344CB8AC3E}">
        <p14:creationId xmlns:p14="http://schemas.microsoft.com/office/powerpoint/2010/main" val="395449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A6F5B-19B0-399F-4F4B-277039EC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Process </a:t>
            </a:r>
            <a:r>
              <a:rPr lang="es-MX" dirty="0" err="1"/>
              <a:t>Overview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6FE8B1-9E23-C99F-BF13-F1280F8F6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s-MX" b="1" dirty="0"/>
              <a:t>Información General</a:t>
            </a:r>
          </a:p>
          <a:p>
            <a:r>
              <a:rPr lang="es-MX" dirty="0"/>
              <a:t>Datos básicos del proceso: nombre, unidad de negocio, resumen, tipo de robot (</a:t>
            </a:r>
            <a:r>
              <a:rPr lang="es-MX" dirty="0" err="1"/>
              <a:t>Attended</a:t>
            </a:r>
            <a:r>
              <a:rPr lang="es-MX" dirty="0"/>
              <a:t>/</a:t>
            </a:r>
            <a:r>
              <a:rPr lang="es-MX" dirty="0" err="1"/>
              <a:t>Unattended</a:t>
            </a:r>
            <a:r>
              <a:rPr lang="es-MX" dirty="0"/>
              <a:t>), versión de </a:t>
            </a:r>
            <a:r>
              <a:rPr lang="es-MX" dirty="0" err="1"/>
              <a:t>UiPath</a:t>
            </a:r>
            <a:r>
              <a:rPr lang="es-MX" dirty="0"/>
              <a:t> y si el proceso es escalable.</a:t>
            </a:r>
          </a:p>
          <a:p>
            <a:r>
              <a:rPr lang="es-MX" b="1" dirty="0"/>
              <a:t>Pre-</a:t>
            </a:r>
            <a:r>
              <a:rPr lang="es-MX" b="1" dirty="0" err="1"/>
              <a:t>Requisites</a:t>
            </a:r>
            <a:endParaRPr lang="es-MX" b="1" dirty="0"/>
          </a:p>
          <a:p>
            <a:r>
              <a:rPr lang="es-MX" dirty="0"/>
              <a:t>Lista de sistemas a los que el robot necesita acceso antes de ejecutarse, indicando nivel de acceso (lectura, escritura) y el rol que el </a:t>
            </a:r>
            <a:r>
              <a:rPr lang="es-MX" dirty="0" err="1"/>
              <a:t>bot</a:t>
            </a:r>
            <a:r>
              <a:rPr lang="es-MX" dirty="0"/>
              <a:t> va a imitar.</a:t>
            </a:r>
          </a:p>
          <a:p>
            <a:r>
              <a:rPr lang="es-MX" b="1" dirty="0" err="1"/>
              <a:t>Application</a:t>
            </a:r>
            <a:r>
              <a:rPr lang="es-MX" b="1" dirty="0"/>
              <a:t> </a:t>
            </a:r>
            <a:r>
              <a:rPr lang="es-MX" b="1" dirty="0" err="1"/>
              <a:t>Installations</a:t>
            </a:r>
            <a:r>
              <a:rPr lang="es-MX" b="1" dirty="0"/>
              <a:t> </a:t>
            </a:r>
            <a:r>
              <a:rPr lang="es-MX" b="1" i="1" dirty="0"/>
              <a:t>(</a:t>
            </a:r>
            <a:r>
              <a:rPr lang="es-MX" b="1" i="1" dirty="0" err="1"/>
              <a:t>Applications</a:t>
            </a:r>
            <a:r>
              <a:rPr lang="es-MX" b="1" i="1" dirty="0"/>
              <a:t> in Scope)</a:t>
            </a:r>
            <a:endParaRPr lang="es-MX" b="1" dirty="0"/>
          </a:p>
          <a:p>
            <a:r>
              <a:rPr lang="es-MX" dirty="0"/>
              <a:t>Registro detallado de cada aplicación que el robot utilizará, incluyendo versión, tipo (</a:t>
            </a:r>
            <a:r>
              <a:rPr lang="es-MX" dirty="0" err="1"/>
              <a:t>thick</a:t>
            </a:r>
            <a:r>
              <a:rPr lang="es-MX" dirty="0"/>
              <a:t>/</a:t>
            </a:r>
            <a:r>
              <a:rPr lang="es-MX" dirty="0" err="1"/>
              <a:t>thin</a:t>
            </a:r>
            <a:r>
              <a:rPr lang="es-MX" dirty="0"/>
              <a:t> </a:t>
            </a:r>
            <a:r>
              <a:rPr lang="es-MX" dirty="0" err="1"/>
              <a:t>client</a:t>
            </a:r>
            <a:r>
              <a:rPr lang="es-MX" dirty="0"/>
              <a:t>), método de autenticación (SSO, SAML, básico) y cómo accede a ella (API o interfaz de usuario).</a:t>
            </a:r>
          </a:p>
          <a:p>
            <a:r>
              <a:rPr lang="es-MX" b="1" dirty="0"/>
              <a:t>Machine </a:t>
            </a:r>
            <a:r>
              <a:rPr lang="es-MX" b="1" dirty="0" err="1"/>
              <a:t>Infrastructure</a:t>
            </a:r>
            <a:endParaRPr lang="es-MX" b="1" dirty="0"/>
          </a:p>
          <a:p>
            <a:r>
              <a:rPr lang="es-MX" dirty="0"/>
              <a:t>Especificaciones técnicas de la máquina donde correrá el robot: CPU, RAM, sistema operativo y almacenamiento.</a:t>
            </a:r>
          </a:p>
          <a:p>
            <a:r>
              <a:rPr lang="es-MX" b="1" dirty="0" err="1"/>
              <a:t>Naming</a:t>
            </a:r>
            <a:r>
              <a:rPr lang="es-MX" b="1" dirty="0"/>
              <a:t> </a:t>
            </a:r>
            <a:r>
              <a:rPr lang="es-MX" b="1" dirty="0" err="1"/>
              <a:t>Conventions</a:t>
            </a:r>
            <a:endParaRPr lang="es-MX" b="1" dirty="0"/>
          </a:p>
          <a:p>
            <a:r>
              <a:rPr lang="es-MX" dirty="0"/>
              <a:t>Estándares de nomenclatura definidos para el proyecto: variables, argumentos, módulos, </a:t>
            </a:r>
            <a:r>
              <a:rPr lang="es-MX" dirty="0" err="1"/>
              <a:t>queues</a:t>
            </a:r>
            <a:r>
              <a:rPr lang="es-MX" dirty="0"/>
              <a:t>, </a:t>
            </a:r>
            <a:r>
              <a:rPr lang="es-MX" dirty="0" err="1"/>
              <a:t>assets</a:t>
            </a:r>
            <a:r>
              <a:rPr lang="es-MX" dirty="0"/>
              <a:t>, carpetas y procesos. Garantiza consistencia en el código.</a:t>
            </a:r>
          </a:p>
          <a:p>
            <a:r>
              <a:rPr lang="es-MX" b="1" dirty="0"/>
              <a:t>Project </a:t>
            </a:r>
            <a:r>
              <a:rPr lang="es-MX" b="1" dirty="0" err="1"/>
              <a:t>Organization</a:t>
            </a:r>
            <a:endParaRPr lang="es-MX" b="1" dirty="0"/>
          </a:p>
          <a:p>
            <a:r>
              <a:rPr lang="es-MX" dirty="0"/>
              <a:t>Estructura de carpetas del proyecto en el repositorio: dónde van los módulos reutilizables, la capa de aplicaciones, la lógica de negocio, el </a:t>
            </a:r>
            <a:r>
              <a:rPr lang="es-MX" dirty="0" err="1"/>
              <a:t>framework</a:t>
            </a:r>
            <a:r>
              <a:rPr lang="es-MX" dirty="0"/>
              <a:t> y los archivos de configuración.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44602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B61D0D-7F7F-0AA9-31B5-F298258D0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Diagram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0DD6B5-7929-3F7B-75AC-A40719B36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Sección visual del SDD con tres niveles:</a:t>
            </a:r>
          </a:p>
          <a:p>
            <a:r>
              <a:rPr lang="es-MX" b="1" dirty="0"/>
              <a:t>Diagrama de interacción:</a:t>
            </a:r>
            <a:r>
              <a:rPr lang="es-MX" dirty="0"/>
              <a:t> muestra cómo se comunican los procesos (</a:t>
            </a:r>
            <a:r>
              <a:rPr lang="es-MX" dirty="0" err="1"/>
              <a:t>Dispatcher</a:t>
            </a:r>
            <a:r>
              <a:rPr lang="es-MX" dirty="0"/>
              <a:t>, </a:t>
            </a:r>
            <a:r>
              <a:rPr lang="es-MX" dirty="0" err="1"/>
              <a:t>Performer</a:t>
            </a:r>
            <a:r>
              <a:rPr lang="es-MX" dirty="0"/>
              <a:t>) y cómo se disparan.</a:t>
            </a:r>
          </a:p>
          <a:p>
            <a:r>
              <a:rPr lang="es-MX" b="1" dirty="0"/>
              <a:t>Diagrama de alto nivel:</a:t>
            </a:r>
            <a:r>
              <a:rPr lang="es-MX" dirty="0"/>
              <a:t> representa el flujo general, interacción entre módulos, mecanismo de reintentos y notificaciones.</a:t>
            </a:r>
          </a:p>
          <a:p>
            <a:r>
              <a:rPr lang="es-MX" b="1" dirty="0"/>
              <a:t>Diagrama de módulo:</a:t>
            </a:r>
            <a:r>
              <a:rPr lang="es-MX" dirty="0"/>
              <a:t> detalla el flujo interno de un módulo específico (ej. </a:t>
            </a:r>
            <a:r>
              <a:rPr lang="es-MX" dirty="0" err="1"/>
              <a:t>login</a:t>
            </a:r>
            <a:r>
              <a:rPr lang="es-MX" dirty="0"/>
              <a:t> a una aplicación).</a:t>
            </a:r>
          </a:p>
          <a:p>
            <a:r>
              <a:rPr lang="es-MX" dirty="0"/>
              <a:t>También se registran aquí los </a:t>
            </a:r>
            <a:r>
              <a:rPr lang="es-MX" b="1" dirty="0"/>
              <a:t>cambios de diseño</a:t>
            </a:r>
            <a:r>
              <a:rPr lang="es-MX" dirty="0"/>
              <a:t> ocurridos durante el desarrollo, con referencias al PDD o </a:t>
            </a:r>
            <a:r>
              <a:rPr lang="es-MX" dirty="0" err="1"/>
              <a:t>change</a:t>
            </a:r>
            <a:r>
              <a:rPr lang="es-MX" dirty="0"/>
              <a:t> </a:t>
            </a:r>
            <a:r>
              <a:rPr lang="es-MX" dirty="0" err="1"/>
              <a:t>requests</a:t>
            </a:r>
            <a:r>
              <a:rPr lang="es-MX" dirty="0"/>
              <a:t> correspondientes.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87924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A0BB0-4238-5AAC-87FF-23E8486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Design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6C41EB-304F-3C8E-F64F-1CDE0A32A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MX" dirty="0"/>
              <a:t>Tabla central del SDD donde se documenta </a:t>
            </a:r>
            <a:r>
              <a:rPr lang="es-MX" b="1" dirty="0"/>
              <a:t>cada módulo o </a:t>
            </a:r>
            <a:r>
              <a:rPr lang="es-MX" b="1" dirty="0" err="1"/>
              <a:t>workflow</a:t>
            </a:r>
            <a:r>
              <a:rPr lang="es-MX" dirty="0"/>
              <a:t> de la automatización:</a:t>
            </a:r>
          </a:p>
          <a:p>
            <a:r>
              <a:rPr lang="es-MX" b="1" dirty="0"/>
              <a:t>Módulo e invocación:</a:t>
            </a:r>
            <a:r>
              <a:rPr lang="es-MX" dirty="0"/>
              <a:t> nombre del módulo y desde dónde es llamado.</a:t>
            </a:r>
          </a:p>
          <a:p>
            <a:r>
              <a:rPr lang="es-MX" b="1" dirty="0"/>
              <a:t>Pre y post condición:</a:t>
            </a:r>
            <a:r>
              <a:rPr lang="es-MX" dirty="0"/>
              <a:t> estado del sistema antes y después de ejecutar el módulo.</a:t>
            </a:r>
          </a:p>
          <a:p>
            <a:r>
              <a:rPr lang="es-MX" b="1" dirty="0"/>
              <a:t>Descripción:</a:t>
            </a:r>
            <a:r>
              <a:rPr lang="es-MX" dirty="0"/>
              <a:t> qué hace el módulo funcionalmente.</a:t>
            </a:r>
          </a:p>
          <a:p>
            <a:r>
              <a:rPr lang="es-MX" b="1" dirty="0"/>
              <a:t>Reutilizable:</a:t>
            </a:r>
            <a:r>
              <a:rPr lang="es-MX" dirty="0"/>
              <a:t> si puede usarse en otros procesos.</a:t>
            </a:r>
          </a:p>
          <a:p>
            <a:r>
              <a:rPr lang="es-MX" b="1" dirty="0"/>
              <a:t>Argumentos:</a:t>
            </a:r>
            <a:r>
              <a:rPr lang="es-MX" dirty="0"/>
              <a:t> parámetros de entrada, salida o entrada/salida.</a:t>
            </a:r>
          </a:p>
          <a:p>
            <a:r>
              <a:rPr lang="es-MX" b="1" dirty="0"/>
              <a:t>Excepciones:</a:t>
            </a:r>
            <a:r>
              <a:rPr lang="es-MX" dirty="0"/>
              <a:t> errores que el módulo maneja.</a:t>
            </a:r>
          </a:p>
          <a:p>
            <a:r>
              <a:rPr lang="es-MX" b="1" dirty="0"/>
              <a:t>Estimado y responsable:</a:t>
            </a:r>
            <a:r>
              <a:rPr lang="es-MX" dirty="0"/>
              <a:t> horas de desarrollo y desarrollador asignado.</a:t>
            </a:r>
          </a:p>
          <a:p>
            <a:r>
              <a:rPr lang="es-MX" b="1" dirty="0"/>
              <a:t>Estatus:</a:t>
            </a:r>
            <a:r>
              <a:rPr lang="es-MX" dirty="0"/>
              <a:t> Not </a:t>
            </a:r>
            <a:r>
              <a:rPr lang="es-MX" dirty="0" err="1"/>
              <a:t>Started</a:t>
            </a:r>
            <a:r>
              <a:rPr lang="es-MX" dirty="0"/>
              <a:t> / In </a:t>
            </a:r>
            <a:r>
              <a:rPr lang="es-MX" dirty="0" err="1"/>
              <a:t>Progress</a:t>
            </a:r>
            <a:r>
              <a:rPr lang="es-MX" dirty="0"/>
              <a:t> / Complete.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79915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16F4C-5C38-123F-8A77-620EC046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Asset</a:t>
            </a:r>
            <a:r>
              <a:rPr lang="es-MX" dirty="0"/>
              <a:t> Management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16D75A-7DEC-2213-B7EB-06CB7BA42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Inventario de todos los </a:t>
            </a:r>
            <a:r>
              <a:rPr lang="es-MX" b="1" dirty="0" err="1"/>
              <a:t>assets</a:t>
            </a:r>
            <a:r>
              <a:rPr lang="es-MX" b="1" dirty="0"/>
              <a:t> registrados en </a:t>
            </a:r>
            <a:r>
              <a:rPr lang="es-MX" b="1" dirty="0" err="1"/>
              <a:t>Orchestrator</a:t>
            </a:r>
            <a:r>
              <a:rPr lang="es-MX" dirty="0"/>
              <a:t> que el proceso utiliza:</a:t>
            </a:r>
          </a:p>
          <a:p>
            <a:r>
              <a:rPr lang="es-MX" dirty="0"/>
              <a:t>Nombre y descripción del </a:t>
            </a:r>
            <a:r>
              <a:rPr lang="es-MX" dirty="0" err="1"/>
              <a:t>asset</a:t>
            </a:r>
            <a:endParaRPr lang="es-MX" dirty="0"/>
          </a:p>
          <a:p>
            <a:r>
              <a:rPr lang="es-MX" dirty="0"/>
              <a:t>Ruta de carpeta en </a:t>
            </a:r>
            <a:r>
              <a:rPr lang="es-MX" dirty="0" err="1"/>
              <a:t>Orchestrator</a:t>
            </a:r>
            <a:endParaRPr lang="es-MX" dirty="0"/>
          </a:p>
          <a:p>
            <a:r>
              <a:rPr lang="es-MX" dirty="0"/>
              <a:t>Tipo de dato (String, </a:t>
            </a:r>
            <a:r>
              <a:rPr lang="es-MX" dirty="0" err="1"/>
              <a:t>Int</a:t>
            </a:r>
            <a:r>
              <a:rPr lang="es-MX" dirty="0"/>
              <a:t>, Bool)</a:t>
            </a:r>
          </a:p>
          <a:p>
            <a:r>
              <a:rPr lang="es-MX" dirty="0"/>
              <a:t>Valor en cada ambiente (Default, UAT, PROD)</a:t>
            </a:r>
          </a:p>
          <a:p>
            <a:r>
              <a:rPr lang="es-MX" dirty="0"/>
              <a:t>Notas sobre cómo el </a:t>
            </a:r>
            <a:r>
              <a:rPr lang="es-MX" dirty="0" err="1"/>
              <a:t>asset</a:t>
            </a:r>
            <a:r>
              <a:rPr lang="es-MX" dirty="0"/>
              <a:t> controla el comportamiento del código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13223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7B6E0-4554-E2DD-A349-735804DB3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Queues</a:t>
            </a:r>
            <a:r>
              <a:rPr lang="es-MX" dirty="0"/>
              <a:t> &amp; </a:t>
            </a:r>
            <a:r>
              <a:rPr lang="es-MX" dirty="0" err="1"/>
              <a:t>Triggers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C744F3-5C9C-1A9D-68C3-CC3E6CC39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b="1" dirty="0" err="1"/>
              <a:t>Triggers</a:t>
            </a:r>
            <a:endParaRPr lang="es-MX" b="1" dirty="0"/>
          </a:p>
          <a:p>
            <a:r>
              <a:rPr lang="es-MX" dirty="0"/>
              <a:t>Define cómo y cuándo se dispara el proceso: nombre, tipo de </a:t>
            </a:r>
            <a:r>
              <a:rPr lang="es-MX" dirty="0" err="1"/>
              <a:t>trigger</a:t>
            </a:r>
            <a:r>
              <a:rPr lang="es-MX" dirty="0"/>
              <a:t> (</a:t>
            </a:r>
            <a:r>
              <a:rPr lang="es-MX" dirty="0" err="1"/>
              <a:t>schedule</a:t>
            </a:r>
            <a:r>
              <a:rPr lang="es-MX" dirty="0"/>
              <a:t>/time-</a:t>
            </a:r>
            <a:r>
              <a:rPr lang="es-MX" dirty="0" err="1"/>
              <a:t>based</a:t>
            </a:r>
            <a:r>
              <a:rPr lang="es-MX" dirty="0"/>
              <a:t>), frecuencia, carpeta y calendario de festivos aplicable.</a:t>
            </a:r>
          </a:p>
          <a:p>
            <a:r>
              <a:rPr lang="es-MX" b="1" dirty="0" err="1"/>
              <a:t>Queues</a:t>
            </a:r>
            <a:endParaRPr lang="es-MX" b="1" dirty="0"/>
          </a:p>
          <a:p>
            <a:r>
              <a:rPr lang="es-MX" dirty="0"/>
              <a:t>Documenta cada cola usada en el proceso: nombre, carpeta, configuración (reintentos, prioridad, referencia única) y el esquema del </a:t>
            </a:r>
            <a:r>
              <a:rPr lang="es-MX" dirty="0" err="1"/>
              <a:t>queue</a:t>
            </a:r>
            <a:r>
              <a:rPr lang="es-MX" dirty="0"/>
              <a:t> </a:t>
            </a:r>
            <a:r>
              <a:rPr lang="es-MX" dirty="0" err="1"/>
              <a:t>item</a:t>
            </a:r>
            <a:r>
              <a:rPr lang="es-MX" dirty="0"/>
              <a:t> (campos y estructura JSON).</a:t>
            </a:r>
          </a:p>
          <a:p>
            <a:r>
              <a:rPr lang="es-MX" b="1" dirty="0" err="1"/>
              <a:t>Orchestrator</a:t>
            </a:r>
            <a:r>
              <a:rPr lang="es-MX" b="1" dirty="0"/>
              <a:t> Folder </a:t>
            </a:r>
            <a:r>
              <a:rPr lang="es-MX" b="1" dirty="0" err="1"/>
              <a:t>Structure</a:t>
            </a:r>
            <a:endParaRPr lang="es-MX" b="1" dirty="0"/>
          </a:p>
          <a:p>
            <a:r>
              <a:rPr lang="es-MX" dirty="0"/>
              <a:t>Jerarquía de carpetas en </a:t>
            </a:r>
            <a:r>
              <a:rPr lang="es-MX" dirty="0" err="1"/>
              <a:t>Orchestrator</a:t>
            </a:r>
            <a:r>
              <a:rPr lang="es-MX" dirty="0"/>
              <a:t>: carpeta principal por departamento, subcarpetas por proceso o segmentación.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29471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BE2B8-94B1-BE6F-063E-26245C344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Code </a:t>
            </a:r>
            <a:r>
              <a:rPr lang="es-MX" dirty="0" err="1"/>
              <a:t>Dependencies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8F3031-761C-0353-FB90-2F022B245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MX" b="1" dirty="0"/>
              <a:t>Paquetes </a:t>
            </a:r>
            <a:r>
              <a:rPr lang="es-MX" b="1" dirty="0" err="1"/>
              <a:t>UiPath</a:t>
            </a:r>
            <a:endParaRPr lang="es-MX" b="1" dirty="0"/>
          </a:p>
          <a:p>
            <a:r>
              <a:rPr lang="es-MX" dirty="0"/>
              <a:t>Lista de todas las actividades y paquetes oficiales de </a:t>
            </a:r>
            <a:r>
              <a:rPr lang="es-MX" dirty="0" err="1"/>
              <a:t>UiPath</a:t>
            </a:r>
            <a:r>
              <a:rPr lang="es-MX" dirty="0"/>
              <a:t> utilizados (Excel, </a:t>
            </a:r>
            <a:r>
              <a:rPr lang="es-MX" dirty="0" err="1"/>
              <a:t>UIAutomation</a:t>
            </a:r>
            <a:r>
              <a:rPr lang="es-MX" dirty="0"/>
              <a:t>, </a:t>
            </a:r>
            <a:r>
              <a:rPr lang="es-MX" dirty="0" err="1"/>
              <a:t>System</a:t>
            </a:r>
            <a:r>
              <a:rPr lang="es-MX" dirty="0"/>
              <a:t>, </a:t>
            </a:r>
            <a:r>
              <a:rPr lang="es-MX" dirty="0" err="1"/>
              <a:t>Testing</a:t>
            </a:r>
            <a:r>
              <a:rPr lang="es-MX" dirty="0"/>
              <a:t>, etc.) con su versión.</a:t>
            </a:r>
          </a:p>
          <a:p>
            <a:r>
              <a:rPr lang="es-MX" b="1" dirty="0"/>
              <a:t>Librerías Externas</a:t>
            </a:r>
          </a:p>
          <a:p>
            <a:r>
              <a:rPr lang="es-MX" dirty="0"/>
              <a:t>Cualquier librería de terceros que no sea oficial de </a:t>
            </a:r>
            <a:r>
              <a:rPr lang="es-MX" dirty="0" err="1"/>
              <a:t>UiPath</a:t>
            </a:r>
            <a:r>
              <a:rPr lang="es-MX" dirty="0"/>
              <a:t>, indicando si cuenta con aprobación formal documentada.</a:t>
            </a:r>
          </a:p>
          <a:p>
            <a:r>
              <a:rPr lang="es-MX" b="1" dirty="0"/>
              <a:t>Otros Artefactos</a:t>
            </a:r>
          </a:p>
          <a:p>
            <a:r>
              <a:rPr lang="es-MX" dirty="0"/>
              <a:t>Documentos de apoyo embebidos en el SDD: definiciones de API, archivos Swagger, estructuras JSON u otros objetos de referencia relevantes para la automatización.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94585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6068CB-3406-EFCF-8504-3B0321B77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2967A7-951E-1046-4755-13D9DA513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Simoes, B. S. (2024, julio 25). </a:t>
            </a:r>
            <a:r>
              <a:rPr lang="es-MX" i="1" dirty="0" err="1"/>
              <a:t>Understanding</a:t>
            </a:r>
            <a:r>
              <a:rPr lang="es-MX" i="1" dirty="0"/>
              <a:t> </a:t>
            </a:r>
            <a:r>
              <a:rPr lang="es-MX" i="1" dirty="0" err="1"/>
              <a:t>PDDs</a:t>
            </a:r>
            <a:r>
              <a:rPr lang="es-MX" i="1" dirty="0"/>
              <a:t> and </a:t>
            </a:r>
            <a:r>
              <a:rPr lang="es-MX" i="1" dirty="0" err="1"/>
              <a:t>SDDs</a:t>
            </a:r>
            <a:r>
              <a:rPr lang="es-MX" i="1" dirty="0"/>
              <a:t>: </a:t>
            </a:r>
            <a:r>
              <a:rPr lang="es-MX" i="1" dirty="0" err="1"/>
              <a:t>Essential</a:t>
            </a:r>
            <a:r>
              <a:rPr lang="es-MX" i="1" dirty="0"/>
              <a:t> </a:t>
            </a:r>
            <a:r>
              <a:rPr lang="es-MX" i="1" dirty="0" err="1"/>
              <a:t>documentation</a:t>
            </a:r>
            <a:r>
              <a:rPr lang="es-MX" i="1" dirty="0"/>
              <a:t> </a:t>
            </a:r>
            <a:r>
              <a:rPr lang="es-MX" i="1" dirty="0" err="1"/>
              <a:t>for</a:t>
            </a:r>
            <a:r>
              <a:rPr lang="es-MX" i="1" dirty="0"/>
              <a:t> </a:t>
            </a:r>
            <a:r>
              <a:rPr lang="es-MX" i="1" dirty="0" err="1"/>
              <a:t>automation</a:t>
            </a:r>
            <a:r>
              <a:rPr lang="es-MX" i="1" dirty="0"/>
              <a:t> </a:t>
            </a:r>
            <a:r>
              <a:rPr lang="es-MX" i="1" dirty="0" err="1"/>
              <a:t>projects</a:t>
            </a:r>
            <a:r>
              <a:rPr lang="es-MX" dirty="0"/>
              <a:t>. </a:t>
            </a:r>
            <a:r>
              <a:rPr lang="es-MX" dirty="0" err="1"/>
              <a:t>Blueprint</a:t>
            </a:r>
            <a:r>
              <a:rPr lang="es-MX" dirty="0"/>
              <a:t> Software </a:t>
            </a:r>
            <a:r>
              <a:rPr lang="es-MX" dirty="0" err="1"/>
              <a:t>Systems</a:t>
            </a:r>
            <a:r>
              <a:rPr lang="es-MX" dirty="0"/>
              <a:t>. </a:t>
            </a:r>
            <a:r>
              <a:rPr lang="es-MX" dirty="0">
                <a:hlinkClick r:id="rId2"/>
              </a:rPr>
              <a:t>https://www.blueprintsys.com/blog/understanding-pdd-and-sdd</a:t>
            </a:r>
            <a:endParaRPr lang="es-MX" dirty="0"/>
          </a:p>
          <a:p>
            <a:r>
              <a:rPr lang="es-MX" dirty="0" err="1"/>
              <a:t>UiPath</a:t>
            </a:r>
            <a:r>
              <a:rPr lang="es-MX" dirty="0"/>
              <a:t>. (2026, enero 21). </a:t>
            </a:r>
            <a:r>
              <a:rPr lang="es-MX" i="1" dirty="0"/>
              <a:t>Detalles sobre el PDD</a:t>
            </a:r>
            <a:r>
              <a:rPr lang="es-MX" dirty="0"/>
              <a:t>. </a:t>
            </a:r>
            <a:r>
              <a:rPr lang="es-MX" dirty="0" err="1"/>
              <a:t>UiPath</a:t>
            </a:r>
            <a:r>
              <a:rPr lang="es-MX" dirty="0"/>
              <a:t> </a:t>
            </a:r>
            <a:r>
              <a:rPr lang="es-MX" dirty="0" err="1"/>
              <a:t>Documentation</a:t>
            </a:r>
            <a:r>
              <a:rPr lang="es-MX" dirty="0"/>
              <a:t>. </a:t>
            </a:r>
            <a:r>
              <a:rPr lang="es-MX" dirty="0">
                <a:hlinkClick r:id="rId3"/>
              </a:rPr>
              <a:t>https://docs.uipath.com/es/task-capture/standalone/2022.4/user-guide/details-about-the-pdd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584083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1213</Words>
  <Application>Microsoft Office PowerPoint</Application>
  <PresentationFormat>Panorámica</PresentationFormat>
  <Paragraphs>101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Tema de Office</vt:lpstr>
      <vt:lpstr>Formatos de entregables</vt:lpstr>
      <vt:lpstr>¿Qué es PDD en RPA?</vt:lpstr>
      <vt:lpstr>Componentes de un PDD</vt:lpstr>
      <vt:lpstr>¿Qué es SDD en RPA?</vt:lpstr>
      <vt:lpstr>Componentes de un SDD</vt:lpstr>
      <vt:lpstr>Contenido del formato PDD (UiPath)</vt:lpstr>
      <vt:lpstr>Introduction </vt:lpstr>
      <vt:lpstr>As-Is Process Description</vt:lpstr>
      <vt:lpstr>To-Be Process Description</vt:lpstr>
      <vt:lpstr>Contenido del formato SDD (UiPath)</vt:lpstr>
      <vt:lpstr>Introduction</vt:lpstr>
      <vt:lpstr>Process Overview</vt:lpstr>
      <vt:lpstr>Diagram</vt:lpstr>
      <vt:lpstr>Design</vt:lpstr>
      <vt:lpstr>Asset Management</vt:lpstr>
      <vt:lpstr>Queues &amp; Triggers</vt:lpstr>
      <vt:lpstr>Code Dependencies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Arellano</dc:creator>
  <cp:lastModifiedBy>Pablo Arellano</cp:lastModifiedBy>
  <cp:revision>2</cp:revision>
  <dcterms:created xsi:type="dcterms:W3CDTF">2026-05-04T23:32:37Z</dcterms:created>
  <dcterms:modified xsi:type="dcterms:W3CDTF">2026-10-13T04:33:05Z</dcterms:modified>
</cp:coreProperties>
</file>