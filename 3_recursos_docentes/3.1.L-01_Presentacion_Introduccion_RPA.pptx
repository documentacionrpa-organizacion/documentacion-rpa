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75" r:id="rId17"/>
    <p:sldId id="270" r:id="rId18"/>
    <p:sldId id="272" r:id="rId19"/>
  </p:sldIdLst>
  <p:sldSz cx="14630400" cy="8229600"/>
  <p:notesSz cx="8229600" cy="14630400"/>
  <p:embeddedFontLst>
    <p:embeddedFont>
      <p:font typeface="Montserrat" pitchFamily="2" charset="0"/>
      <p:regular r:id="rId21"/>
      <p:bold r:id="rId22"/>
      <p:italic r:id="rId23"/>
      <p:boldItalic r:id="rId24"/>
    </p:embeddedFont>
    <p:embeddedFont>
      <p:font typeface="Montserrat Bold" pitchFamily="2" charset="0"/>
      <p:bold r:id="rId25"/>
    </p:embeddedFont>
    <p:embeddedFont>
      <p:font typeface="Montserrat Light" pitchFamily="2" charset="0"/>
      <p:regular r:id="rId26"/>
      <p:italic r:id="rId27"/>
    </p:embeddedFont>
    <p:embeddedFont>
      <p:font typeface="Source Sans 3" panose="020B0604020202020204" charset="0"/>
      <p:regular r:id="rId28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87" d="100"/>
          <a:sy n="87" d="100"/>
        </p:scale>
        <p:origin x="8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45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0BB2-EA09-62E8-D031-9AB0A653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F697F-5123-32D9-CF7E-0A2AA8439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1C72B-AD80-33D5-E1F8-E5C0B1201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A90F9-DA02-21F2-3318-674AE8E1F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95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n8n.io/" TargetMode="External"/><Relationship Id="rId3" Type="http://schemas.openxmlformats.org/officeDocument/2006/relationships/hyperlink" Target="https://www.oracle.com/mx/automation/what-is-rpa/" TargetMode="External"/><Relationship Id="rId7" Type="http://schemas.openxmlformats.org/officeDocument/2006/relationships/hyperlink" Target="https://learn.microsoft.com/en-us/power-automate/" TargetMode="External"/><Relationship Id="rId2" Type="http://schemas.openxmlformats.org/officeDocument/2006/relationships/hyperlink" Target="https://www.ibm.com/topics/rpa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ocs.automationanywhere.com/" TargetMode="External"/><Relationship Id="rId5" Type="http://schemas.openxmlformats.org/officeDocument/2006/relationships/hyperlink" Target="https://docs.uipath.com/" TargetMode="External"/><Relationship Id="rId10" Type="http://schemas.openxmlformats.org/officeDocument/2006/relationships/hyperlink" Target="https://deepwiki.com/n8n-io/n8n/1.2-architecture-overview" TargetMode="External"/><Relationship Id="rId4" Type="http://schemas.openxmlformats.org/officeDocument/2006/relationships/hyperlink" Target="https://www.omg.org/spec/BPMN/2.0.2/" TargetMode="External"/><Relationship Id="rId9" Type="http://schemas.openxmlformats.org/officeDocument/2006/relationships/hyperlink" Target="https://tuanla.vn/post/n8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49C2B0-3ED1-B568-42DF-EC301EAA5598}"/>
              </a:ext>
            </a:extLst>
          </p:cNvPr>
          <p:cNvSpPr txBox="1"/>
          <p:nvPr/>
        </p:nvSpPr>
        <p:spPr>
          <a:xfrm>
            <a:off x="726309" y="2683639"/>
            <a:ext cx="131777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>
                <a:latin typeface="Montserrat Bold" pitchFamily="2" charset="0"/>
              </a:rPr>
              <a:t>Presentación: introducción a RPA (</a:t>
            </a:r>
            <a:r>
              <a:rPr lang="es-MX" sz="6000" dirty="0" err="1">
                <a:latin typeface="Montserrat Bold" pitchFamily="2" charset="0"/>
              </a:rPr>
              <a:t>Robotic</a:t>
            </a:r>
            <a:r>
              <a:rPr lang="es-MX" sz="6000" dirty="0">
                <a:latin typeface="Montserrat Bold" pitchFamily="2" charset="0"/>
              </a:rPr>
              <a:t> Process </a:t>
            </a:r>
            <a:r>
              <a:rPr lang="es-MX" sz="6000" dirty="0" err="1">
                <a:latin typeface="Montserrat Bold" pitchFamily="2" charset="0"/>
              </a:rPr>
              <a:t>Automation</a:t>
            </a:r>
            <a:r>
              <a:rPr lang="es-MX" sz="6000" dirty="0">
                <a:latin typeface="Montserrat Bold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214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1869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¿Qué es RPA?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13606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RPA significa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Robotic Process Automation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Automatización Robótica de Procesos. Es una tecnología que permite usar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bots de software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automatizar tareas repetitivas que normalmente realiza una persona en una computadora.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3159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Estos bots no son robots físicos, sino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programas que imitan acciones humanas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manera inteligente y eficiente.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6215" y="589359"/>
            <a:ext cx="8582144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¿Qué pueden hacer los bots de RPA?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46215" y="1461492"/>
            <a:ext cx="4008120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342906" y="1658183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5188" y="1820347"/>
            <a:ext cx="265509" cy="2655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2906" y="2404943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Abren programas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42906" y="2778204"/>
            <a:ext cx="3614738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bots pueden iniciar aplicaciones y sistemas de forma automática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11021" y="1461492"/>
            <a:ext cx="4008239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5507712" y="1658183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994" y="1820347"/>
            <a:ext cx="265509" cy="2655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7712" y="2404943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Copiar y pegar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507712" y="2778204"/>
            <a:ext cx="3614857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Manejan información entre diferentes aplicaciones y documentos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475946" y="1461492"/>
            <a:ext cx="4008239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9672638" y="1658183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920" y="1820347"/>
            <a:ext cx="265509" cy="2655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72638" y="2404943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Llenar formularios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672638" y="2778204"/>
            <a:ext cx="3614857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Completan campos y datos estructurados automáticamente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146215" y="3661648"/>
            <a:ext cx="4008120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1342906" y="3858339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5188" y="4020503"/>
            <a:ext cx="265509" cy="26550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42906" y="4605099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Leer correos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1342906" y="4978360"/>
            <a:ext cx="3614738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Procesan mensajes y extraen información relevante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311021" y="3661648"/>
            <a:ext cx="4008239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5507712" y="3858339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9994" y="4020503"/>
            <a:ext cx="265509" cy="26550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07712" y="4605099"/>
            <a:ext cx="2242899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Descargar archivos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5507712" y="4978360"/>
            <a:ext cx="3614857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Acceden y guardan documentos desde sistemas y portales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9475946" y="3661648"/>
            <a:ext cx="4008239" cy="2043470"/>
          </a:xfrm>
          <a:prstGeom prst="roundRect">
            <a:avLst>
              <a:gd name="adj" fmla="val 14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9672638" y="3858339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4920" y="4020503"/>
            <a:ext cx="265509" cy="26550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72638" y="4605099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Generar reportes</a:t>
            </a:r>
            <a:endParaRPr lang="en-US" sz="1750" dirty="0"/>
          </a:p>
        </p:txBody>
      </p:sp>
      <p:sp>
        <p:nvSpPr>
          <p:cNvPr id="32" name="Text 24"/>
          <p:cNvSpPr/>
          <p:nvPr/>
        </p:nvSpPr>
        <p:spPr>
          <a:xfrm>
            <a:off x="9672638" y="4978360"/>
            <a:ext cx="3614857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Crean análisis y documentos de manera programada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1146215" y="5861804"/>
            <a:ext cx="12337971" cy="1778437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26"/>
          <p:cNvSpPr/>
          <p:nvPr/>
        </p:nvSpPr>
        <p:spPr>
          <a:xfrm>
            <a:off x="1342906" y="6058495"/>
            <a:ext cx="590074" cy="590074"/>
          </a:xfrm>
          <a:prstGeom prst="roundRect">
            <a:avLst>
              <a:gd name="adj" fmla="val 1549481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5188" y="6220658"/>
            <a:ext cx="265509" cy="26550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42906" y="6805255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Mover datos</a:t>
            </a:r>
            <a:endParaRPr lang="en-US" sz="1750" dirty="0"/>
          </a:p>
        </p:txBody>
      </p:sp>
      <p:sp>
        <p:nvSpPr>
          <p:cNvPr id="37" name="Text 28"/>
          <p:cNvSpPr/>
          <p:nvPr/>
        </p:nvSpPr>
        <p:spPr>
          <a:xfrm>
            <a:off x="1342906" y="7178516"/>
            <a:ext cx="11944588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Transfieren información entre múltiples sistemas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2504"/>
            <a:ext cx="768441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 principal del RPA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177415"/>
            <a:ext cx="6451402" cy="987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615" y="3411498"/>
            <a:ext cx="363783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Reducir tareas manuales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10615" y="3910132"/>
            <a:ext cx="595776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Libera tiempo del personal para actividades de mayor valor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77415"/>
            <a:ext cx="6451402" cy="987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62017" y="341149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Ahorrar tiempo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62017" y="3910132"/>
            <a:ext cx="595776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Procesos que tomaban horas ahora se completan en minutos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98" y="4897279"/>
            <a:ext cx="6451402" cy="987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0615" y="613136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Disminuir errores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0615" y="6629995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 la variabilidad humana y mejora la precisión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97279"/>
            <a:ext cx="6451402" cy="987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62017" y="6131362"/>
            <a:ext cx="326636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Mejorar productividad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62017" y="6629995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Mayor volumen de trabajo con los mismos recursos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09" y="658773"/>
            <a:ext cx="6283762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¿En dónde se usa RPA?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96409" y="1724739"/>
            <a:ext cx="13037582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RPA se implementa en procesos que comparten características específicas que lo hacen ideal para automatización: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6409" y="2288619"/>
            <a:ext cx="6413897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54418" y="2546628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Repetitivos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4418" y="2995732"/>
            <a:ext cx="5897880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Tareas que se realizan de manera recurrente y siguen patrones establecidos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19975" y="2288619"/>
            <a:ext cx="6414016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677983" y="2546628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Basados en reglas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77983" y="2995732"/>
            <a:ext cx="5897999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Procesos que siguen lógica clara y decisiones predefinidas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6409" y="4119205"/>
            <a:ext cx="6413897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054418" y="4377214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Alto volumen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4418" y="4826318"/>
            <a:ext cx="5897880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Operaciones que procesan grandes cantidades de datos o transacciones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19975" y="4119205"/>
            <a:ext cx="6414016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677983" y="4377214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77983" y="4826318"/>
            <a:ext cx="5897999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Actividades que requieren intervención humana constante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6409" y="5949791"/>
            <a:ext cx="6413897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54418" y="6207800"/>
            <a:ext cx="2696051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Propensos a errores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4418" y="6656903"/>
            <a:ext cx="5897880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Procesos donde la variabilidad humana genera inconsistencias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19975" y="5949791"/>
            <a:ext cx="6414016" cy="1620917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677983" y="6207800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Varios sistemas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77983" y="6656903"/>
            <a:ext cx="5897999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Tareas que integran información de múltiples aplicaciones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863" y="701040"/>
            <a:ext cx="9032915" cy="65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Áreas donde se implementa RPA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809863" y="1900714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Finanzas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809863" y="2446377"/>
            <a:ext cx="6223040" cy="157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Conciliaciones bancarias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Facturación y cobranzas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Cuentas por pagar y cobrar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Generación de reportes financieros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9863" y="4235767"/>
            <a:ext cx="2659737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Recursos Humanos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809863" y="4781431"/>
            <a:ext cx="6223040" cy="11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Procesamiento de nómina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Altas y bajas de empleados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Administración de beneficios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05117" y="1900714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Atención al Cliente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605117" y="2446377"/>
            <a:ext cx="6223040" cy="11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Seguimiento de tickets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Respuestas automáticas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Gestión de solicitudes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05117" y="3823692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Logística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605117" y="4369356"/>
            <a:ext cx="6223040" cy="11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 de inventarios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Rastreo de pedidos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Actualización de estados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05117" y="5746671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Gobierno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605117" y="6292334"/>
            <a:ext cx="6223040" cy="11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Trámites administrativos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Validación documental</a:t>
            </a:r>
            <a:endParaRPr lang="en-US" sz="18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Procesamiento de solicitudes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09" y="629126"/>
            <a:ext cx="10268426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UiPath: Arquitectura de componentes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96409" y="1695093"/>
            <a:ext cx="13037582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UiPath es una de las plataformas líderes en automatización robótica, con una arquitectura modular y escalable.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37642" y="2827734"/>
            <a:ext cx="6072545" cy="227528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96409" y="2600146"/>
            <a:ext cx="682585" cy="682585"/>
          </a:xfrm>
          <a:prstGeom prst="roundRect">
            <a:avLst>
              <a:gd name="adj" fmla="val 669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026" y="2770763"/>
            <a:ext cx="341233" cy="3412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3938" y="3492460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UiPath Studio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23938" y="3941564"/>
            <a:ext cx="5958840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Entorno de diseño donde se crean y programan los bots automatizados mediante interfaces visuales y código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761208" y="2486501"/>
            <a:ext cx="6072664" cy="227528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419975" y="2258913"/>
            <a:ext cx="682585" cy="682585"/>
          </a:xfrm>
          <a:prstGeom prst="roundRect">
            <a:avLst>
              <a:gd name="adj" fmla="val 669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0592" y="2429530"/>
            <a:ext cx="341233" cy="3412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7503" y="3151227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UiPath Robot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47503" y="3600331"/>
            <a:ext cx="5958959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Componente que ejecuta los procesos automatizados en las máquinas de los usuarios o servidores dedicados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137642" y="5603319"/>
            <a:ext cx="6072545" cy="227528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796409" y="5375731"/>
            <a:ext cx="682585" cy="682585"/>
          </a:xfrm>
          <a:prstGeom prst="roundRect">
            <a:avLst>
              <a:gd name="adj" fmla="val 669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026" y="5546348"/>
            <a:ext cx="341233" cy="34123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3938" y="6268045"/>
            <a:ext cx="2711529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UiPath Orchestrator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023938" y="6717149"/>
            <a:ext cx="5958840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centralizada para administrar, monitorear y controlar todos los bots de la organización desde un solo lugar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761208" y="5262086"/>
            <a:ext cx="6072664" cy="227528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7419975" y="5034498"/>
            <a:ext cx="682585" cy="682585"/>
          </a:xfrm>
          <a:prstGeom prst="roundRect">
            <a:avLst>
              <a:gd name="adj" fmla="val 669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0592" y="5205115"/>
            <a:ext cx="341233" cy="34123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7503" y="5926812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UiPath Assistant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647503" y="6375916"/>
            <a:ext cx="5958959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Interfaz de usuario que permite a los empleados interactuar fácilmente con los bots y ejecutar automatizaciones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836" y="725329"/>
            <a:ext cx="13064728" cy="1270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Automation Anywhere: Arquitectura de componentes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2836" y="2401610"/>
            <a:ext cx="13064728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Automation Anywhere ofrece una plataforma completa con herramientas especializadas para cada etapa del proceso de automatización.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2836" y="2949416"/>
            <a:ext cx="6431042" cy="671036"/>
          </a:xfrm>
          <a:prstGeom prst="roundRect">
            <a:avLst>
              <a:gd name="adj" fmla="val 4800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830598" y="3075265"/>
            <a:ext cx="33551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6435" y="3823097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 Creator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6435" y="4262318"/>
            <a:ext cx="5983843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Entorno de desarrollo visual para diseñar y programar bots con interfaces intuitivas y lógica empresarial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16522" y="2949416"/>
            <a:ext cx="6431042" cy="671036"/>
          </a:xfrm>
          <a:prstGeom prst="roundRect">
            <a:avLst>
              <a:gd name="adj" fmla="val 4800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464284" y="3075265"/>
            <a:ext cx="33551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40122" y="3823097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 Runner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40122" y="4262318"/>
            <a:ext cx="5983843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ejecución que procesa las automatizaciones en tiempo real, ya sea en modo attended o unattended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2836" y="5328166"/>
            <a:ext cx="6431042" cy="671036"/>
          </a:xfrm>
          <a:prstGeom prst="roundRect">
            <a:avLst>
              <a:gd name="adj" fmla="val 4800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830598" y="5454015"/>
            <a:ext cx="33551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6435" y="6201847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 Room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6435" y="6641068"/>
            <a:ext cx="5983843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Centro de administración centralizado para gestión de usuarios, seguridad, monitoreo, auditoría y control de versiones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16522" y="5328166"/>
            <a:ext cx="6431042" cy="671036"/>
          </a:xfrm>
          <a:prstGeom prst="roundRect">
            <a:avLst>
              <a:gd name="adj" fmla="val 4800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464284" y="5454015"/>
            <a:ext cx="33551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40122" y="6201847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 Insight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40122" y="6641068"/>
            <a:ext cx="5983843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y métricas analíticas para monitorear rendimiento, identificar oportunidades y optimizar procesos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890" y="766048"/>
            <a:ext cx="12956619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Automate: Arquitectura de componentes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36890" y="2587823"/>
            <a:ext cx="12956619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Automate de Microsoft integra automatización en la nube con capacidades locales para una solución completa.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6890" y="3201233"/>
            <a:ext cx="4164449" cy="2368272"/>
          </a:xfrm>
          <a:prstGeom prst="roundRect">
            <a:avLst>
              <a:gd name="adj" fmla="val 151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75968" y="3440311"/>
            <a:ext cx="331362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Automate Cloud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5968" y="3918823"/>
            <a:ext cx="3686294" cy="141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Servicios en la nube para crear flujos de trabajo automatizados que conectan aplicaciones SaaS y servicios online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2916" y="3201233"/>
            <a:ext cx="4164449" cy="2368272"/>
          </a:xfrm>
          <a:prstGeom prst="roundRect">
            <a:avLst>
              <a:gd name="adj" fmla="val 151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71993" y="3440311"/>
            <a:ext cx="367950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Automate Desktop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71993" y="3918823"/>
            <a:ext cx="3686294" cy="141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Aplicación de escritorio para automatizar tareas en aplicaciones locales y sistemas legacy sin API disponible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28942" y="3201233"/>
            <a:ext cx="4164449" cy="2368272"/>
          </a:xfrm>
          <a:prstGeom prst="roundRect">
            <a:avLst>
              <a:gd name="adj" fmla="val 151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868019" y="3440311"/>
            <a:ext cx="2717244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</a:rPr>
              <a:t>Power Automate Desktop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</a:rPr>
              <a:t>Runtime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68019" y="4114800"/>
            <a:ext cx="3686294" cy="121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Permite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las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automatizaciones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creadas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ejecuten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máquinas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locales o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remotas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6890" y="5801082"/>
            <a:ext cx="6362462" cy="1662470"/>
          </a:xfrm>
          <a:prstGeom prst="roundRect">
            <a:avLst>
              <a:gd name="adj" fmla="val 215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75968" y="6040160"/>
            <a:ext cx="2717244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</a:rPr>
              <a:t>Power Automate Hosted Machine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75968" y="6518672"/>
            <a:ext cx="5884307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Permite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ejecutar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flujos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de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escritorio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sin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necesidad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de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administrar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</a:rPr>
              <a:t>infraestructura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</a:rPr>
              <a:t> local</a:t>
            </a:r>
            <a:endParaRPr lang="en-US" sz="1850" dirty="0"/>
          </a:p>
          <a:p>
            <a:pPr marL="0" indent="0" algn="l">
              <a:lnSpc>
                <a:spcPts val="2750"/>
              </a:lnSpc>
              <a:buNone/>
            </a:pP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0929" y="5801082"/>
            <a:ext cx="6362462" cy="1662470"/>
          </a:xfrm>
          <a:prstGeom prst="roundRect">
            <a:avLst>
              <a:gd name="adj" fmla="val 215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670006" y="6040160"/>
            <a:ext cx="2717244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</a:rPr>
              <a:t>Dataverse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670006" y="6518672"/>
            <a:ext cx="5884307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Almacenamiento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datos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centralizado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estructurado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flujos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trabajo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automatizaciones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empresariales</a:t>
            </a:r>
            <a:endParaRPr lang="en-US" sz="1850" dirty="0">
              <a:solidFill>
                <a:srgbClr val="3D38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EE700DD-C109-79EC-FDE7-9C597B74A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30822"/>
              </p:ext>
            </p:extLst>
          </p:nvPr>
        </p:nvGraphicFramePr>
        <p:xfrm>
          <a:off x="1433245" y="201241"/>
          <a:ext cx="11763910" cy="781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782">
                  <a:extLst>
                    <a:ext uri="{9D8B030D-6E8A-4147-A177-3AD203B41FA5}">
                      <a16:colId xmlns:a16="http://schemas.microsoft.com/office/drawing/2014/main" val="1466626115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2712970034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849287995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4245037263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277537403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Montserrat Bold" pitchFamily="2" charset="0"/>
                        </a:rPr>
                        <a:t>Tabla comparativa entre componentes de RPA</a:t>
                      </a:r>
                    </a:p>
                  </a:txBody>
                  <a:tcPr marL="137160" marR="137160" marT="137160" marB="137160"/>
                </a:tc>
                <a:tc h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1" kern="1200" dirty="0" err="1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endParaRPr lang="es-MX" sz="1300" b="1" kern="1200" dirty="0">
                        <a:solidFill>
                          <a:schemeClr val="dk1"/>
                        </a:solidFill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1" kern="1200" dirty="0" err="1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1" kern="1200" dirty="0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1" kern="1200" dirty="0" err="1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endParaRPr lang="es-MX" sz="1300" b="1" kern="1200" dirty="0">
                        <a:solidFill>
                          <a:schemeClr val="dk1"/>
                        </a:solidFill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1" kern="1200" dirty="0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Power </a:t>
                      </a:r>
                      <a:r>
                        <a:rPr lang="es-MX" sz="1300" b="1" kern="1200" dirty="0" err="1">
                          <a:solidFill>
                            <a:schemeClr val="dk1"/>
                          </a:solidFill>
                          <a:latin typeface="Montserrat" pitchFamily="2" charset="0"/>
                          <a:ea typeface="+mn-ea"/>
                          <a:cs typeface="+mn-cs"/>
                        </a:rPr>
                        <a:t>Automate</a:t>
                      </a:r>
                      <a:endParaRPr lang="es-MX" sz="1300" b="1" kern="1200" dirty="0">
                        <a:solidFill>
                          <a:schemeClr val="dk1"/>
                        </a:solidFill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300" b="1" dirty="0">
                          <a:latin typeface="Montserrat" pitchFamily="2" charset="0"/>
                        </a:rPr>
                        <a:t>n8n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954268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Diseño de automatizaciones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Studio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Bot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Creator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Power Automate Cloud Flows / Desktop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n8n Editor</a:t>
                      </a:r>
                      <a:endParaRPr lang="es-MX" sz="1300" dirty="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17177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Ejecución de automatizaciones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Robot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Bot Runner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Power Automate Desktop Runtime / Hosted Machine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Workflow</a:t>
                      </a: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 </a:t>
                      </a:r>
                      <a:r>
                        <a:rPr lang="es-MX" sz="1300" b="0" i="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Execution</a:t>
                      </a: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 </a:t>
                      </a:r>
                      <a:r>
                        <a:rPr lang="es-MX" sz="1300" b="0" i="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Engine</a:t>
                      </a:r>
                      <a:endParaRPr lang="es-MX" sz="1300" dirty="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16669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Orquestación y control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Orchestrator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Control Room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Power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Service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Main Process</a:t>
                      </a:r>
                      <a:endParaRPr lang="es-MX" sz="1300" dirty="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7794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Componente de interacción con usuario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Assistant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Bot Agent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Power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Portal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No aplica</a:t>
                      </a:r>
                      <a:endParaRPr lang="es-MX" sz="130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83583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Componente de 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AI Center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AI Sense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AI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Builder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No aplica</a:t>
                      </a:r>
                      <a:endParaRPr lang="es-MX" sz="130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04658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Procesamiento de documentos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Document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Understanding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IQ Bot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Incluido en AI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Builder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No aplica</a:t>
                      </a:r>
                      <a:endParaRPr lang="es-MX" sz="130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9726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Componente de análisis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Insights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Bot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Insight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Microsoft Power BI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Limitado</a:t>
                      </a:r>
                      <a:endParaRPr lang="es-MX" sz="130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9617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Componente de integración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UiPath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Integration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Service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Anywhere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REST API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Power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Automate</a:t>
                      </a: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300" b="0" i="0" kern="120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Connectors</a:t>
                      </a:r>
                      <a:endParaRPr lang="es-MX" sz="1300" b="0" i="0" kern="1200" dirty="0">
                        <a:solidFill>
                          <a:srgbClr val="000000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n8n Nodes</a:t>
                      </a:r>
                      <a:endParaRPr lang="es-MX" sz="1300" dirty="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65291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Alcance de la herramienta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Automatización robótica empresarial con soporte de inteligencia artificial para procesos complejos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Automatización robótica empresarial gestionada completamente en la nube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300" b="0" i="0" kern="120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Automatización de tareas y procesos integrada a las aplicaciones de Microsoft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300" b="0" i="0" dirty="0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Automatización de flujos de trabajo entre aplicaciones a través de </a:t>
                      </a:r>
                      <a:r>
                        <a:rPr lang="es-MX" sz="1300" b="0" i="0" dirty="0" err="1">
                          <a:solidFill>
                            <a:srgbClr val="000000"/>
                          </a:solidFill>
                          <a:effectLst/>
                          <a:latin typeface="Montserrat" pitchFamily="2" charset="0"/>
                        </a:rPr>
                        <a:t>APIs</a:t>
                      </a:r>
                      <a:endParaRPr lang="es-MX" sz="1300" dirty="0">
                        <a:effectLst/>
                        <a:latin typeface="Montserrat" pitchFamily="2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721097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56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09" y="708660"/>
            <a:ext cx="8956000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Fases - Actividades - Entregables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96409" y="1774627"/>
            <a:ext cx="13037582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desarrollo de un bot RPA sigue una metodología estructurada que garantiza resultados efectivos y sostenibles. Cada fase cumple un propósito específico y construye sobre las anteriores para asegurar una implementación exitosa.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6409" y="2666405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6409" y="3022521"/>
            <a:ext cx="4206002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96409" y="3197185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Descubrimiento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6409" y="3646289"/>
            <a:ext cx="4206002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Identificación y evaluación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2080" y="2666405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2080" y="3022521"/>
            <a:ext cx="4206121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212080" y="3197185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Análisis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3646289"/>
            <a:ext cx="420612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Estudio detallado del proceso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27870" y="2666405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27870" y="3022521"/>
            <a:ext cx="4206121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627870" y="3197185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Diseño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27870" y="3646289"/>
            <a:ext cx="420612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 técnico completo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6409" y="4354473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6409" y="4710589"/>
            <a:ext cx="4206002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96409" y="4885253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Desarrollo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6409" y="5334357"/>
            <a:ext cx="4206002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Construcción del bot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212080" y="4354473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5212080" y="4710589"/>
            <a:ext cx="4206121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212080" y="4885253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Pruebas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5334357"/>
            <a:ext cx="420612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Validación y corrección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627870" y="4354473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9627870" y="4710589"/>
            <a:ext cx="4206121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627870" y="4885253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Implementación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27870" y="5334357"/>
            <a:ext cx="420612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Despliegue en producción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6409" y="6042541"/>
            <a:ext cx="45505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96409" y="6398657"/>
            <a:ext cx="13037582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96409" y="6573322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Mantenimiento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96409" y="7022425"/>
            <a:ext cx="13037582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Soporte continuo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43570"/>
            <a:ext cx="676001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1: Descubrimiento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61830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Actividades Clave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929295"/>
            <a:ext cx="615029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Identificar procesos candidatos para automatización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Analizar viabilidad técnica y económica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Evaluar impacto potencial en la organización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Seleccionar el proceso óptimo para desarrollo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915733"/>
            <a:ext cx="495966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Consideraciones Específicas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63798" y="5583198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Durante esta fase, es fundamental considerar aspectos como la repetitividad del proceso, la estabilidad de las reglas de negocio, la disponibilidad de sistemas para integración, y el retorno de inversión esperado.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2261830"/>
            <a:ext cx="360164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Entregable Principal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23929" y="292929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PDD (Process Design Document) o </a:t>
            </a: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Documento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16307" y="379910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Documento completo del proceso actual, incluyendo: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16308" y="4416088"/>
            <a:ext cx="6150293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Descripción detallada del flujo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Participantes y roles involucrados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Sistemas y herramientas utilizadas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Indicadores de rendimiento actuales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Criterios de selección justificados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318" y="91947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2: Análisis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3318" y="2114386"/>
            <a:ext cx="6327934" cy="2533888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02838" y="2114386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202055" y="2391683"/>
            <a:ext cx="313848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AS-IS: Proceso Actual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02055" y="2890317"/>
            <a:ext cx="56819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Documentación exhaustiva del estado actual, incluyendo todas las reglas de negocio, excepciones manejadas manualmente, entradas y salidas del proceso, y puntos de validación con usuarios finales.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08069" y="2114386"/>
            <a:ext cx="6328053" cy="2533888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7377589" y="2114386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776805" y="2391683"/>
            <a:ext cx="441090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TO-BE: Proceso Automatizado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6805" y="2890317"/>
            <a:ext cx="56820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del proceso futuro optimizado para automatización, definiendo cómo se eliminarán cuellos de botella, se reducirán errores humanos, y se mejorará la eficiencia operacional.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3318" y="492592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 fase establece la base para el diseño técnico, asegurando que todas las variables del proceso sean comprendidas antes de comenzar la construcción del bot.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523" y="829028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3: Diseño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53523" y="2147288"/>
            <a:ext cx="3688080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Actividades Técnicas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53523" y="2814753"/>
            <a:ext cx="7500699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de la arquitectura del bot y su flujo de control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Definición de la estrategia de manejo de errores y excepciones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validaciones de datos y lógica de negocio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de la interfaz de usuario (si aplica)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Planificación de integraciones con sistemas externos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64061" y="214728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Entregable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964061" y="2814753"/>
            <a:ext cx="479976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SDD (Solution Design Document)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4061" y="3406970"/>
            <a:ext cx="479976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Documento técnico completo que incluye diagramas de flujo, pseudocódigo, especificaciones de integración, y estrategia de mantenimiento.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809" y="652939"/>
            <a:ext cx="7242929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4 y 5: Desarrollo y Pruebas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09" y="1644372"/>
            <a:ext cx="6559391" cy="863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1669" y="269712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Desarrollo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71669" y="3117175"/>
            <a:ext cx="6127671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Construcción del bot funcional inicial mediante configuración de comandos, implementación de lógica de negocio, e integración con sistemas externos.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4372"/>
            <a:ext cx="6559391" cy="863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1060" y="269712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Pruebas Unitarias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531060" y="3117175"/>
            <a:ext cx="6127671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Validación de componentes individuales y corrección de errores detectados.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09" y="4243864"/>
            <a:ext cx="6559391" cy="863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669" y="5296614"/>
            <a:ext cx="29933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Pruebas de Integración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71669" y="5716667"/>
            <a:ext cx="6127671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Verificación del funcionamiento conjunto de todos los componentes.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43864"/>
            <a:ext cx="6559391" cy="8637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31060" y="5296614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Pruebas UAT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531060" y="5716667"/>
            <a:ext cx="6127671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Validación con usuarios finales para asegurar que cumple requisitos.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55809" y="6752273"/>
            <a:ext cx="13118783" cy="824389"/>
          </a:xfrm>
          <a:prstGeom prst="roundRect">
            <a:avLst>
              <a:gd name="adj" fmla="val 393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69" y="7046476"/>
            <a:ext cx="269915" cy="215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57444" y="6995160"/>
            <a:ext cx="1220128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Entregables: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Bot funcional, evidencia de pruebas ejecutadas, reporte de incidencias y correcciones aplicadas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B841-BFE9-2268-D60A-A33F3B73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2E24F5-DDB4-1C9D-3AF1-3A8F594BC277}"/>
              </a:ext>
            </a:extLst>
          </p:cNvPr>
          <p:cNvSpPr/>
          <p:nvPr/>
        </p:nvSpPr>
        <p:spPr>
          <a:xfrm>
            <a:off x="853523" y="829028"/>
            <a:ext cx="730435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6: </a:t>
            </a:r>
            <a:r>
              <a:rPr lang="en-US" sz="440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Implementación</a:t>
            </a: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3299A0-7FE6-8656-7EB5-5D0C1787934A}"/>
              </a:ext>
            </a:extLst>
          </p:cNvPr>
          <p:cNvSpPr/>
          <p:nvPr/>
        </p:nvSpPr>
        <p:spPr>
          <a:xfrm>
            <a:off x="853523" y="2147288"/>
            <a:ext cx="3688080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Actividades</a:t>
            </a:r>
            <a:endParaRPr lang="en-US" sz="2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088C5E-F93D-ABEF-FF0B-307ADFDB203F}"/>
              </a:ext>
            </a:extLst>
          </p:cNvPr>
          <p:cNvSpPr/>
          <p:nvPr/>
        </p:nvSpPr>
        <p:spPr>
          <a:xfrm>
            <a:off x="853523" y="2814753"/>
            <a:ext cx="7500699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Migración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del bot al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entorno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de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producción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Configuración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final de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permisos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y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credenciales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Orchestrator</a:t>
            </a: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Configuración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de colas, triggers y schedules de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ejecución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Capacitación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a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usuarios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finales y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operadores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Transferencia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formal al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equipo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de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operaciones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F4B144-923F-3079-5B95-4F5E763DAD41}"/>
              </a:ext>
            </a:extLst>
          </p:cNvPr>
          <p:cNvSpPr/>
          <p:nvPr/>
        </p:nvSpPr>
        <p:spPr>
          <a:xfrm>
            <a:off x="8964061" y="214728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Entregables</a:t>
            </a:r>
            <a:endParaRPr lang="en-US" sz="26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FA641E-8956-7537-EA9C-C67AF03C5D18}"/>
              </a:ext>
            </a:extLst>
          </p:cNvPr>
          <p:cNvSpPr/>
          <p:nvPr/>
        </p:nvSpPr>
        <p:spPr>
          <a:xfrm>
            <a:off x="8964061" y="2814753"/>
            <a:ext cx="4799767" cy="233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</a:rPr>
              <a:t>Bot </a:t>
            </a: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</a:rPr>
              <a:t>en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</a:rPr>
              <a:t>producción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–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sistema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operativo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procesando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transacciones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reales</a:t>
            </a:r>
          </a:p>
          <a:p>
            <a:pPr marL="342900" indent="-342900">
              <a:lnSpc>
                <a:spcPts val="2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</a:rPr>
              <a:t>Release notes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–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documentación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del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despliegue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y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cambios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aplicados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  <a:p>
            <a:pPr marL="342900" indent="-342900">
              <a:lnSpc>
                <a:spcPts val="2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</a:rPr>
              <a:t>Manual de </a:t>
            </a:r>
            <a:r>
              <a:rPr lang="en-US" sz="1900" b="1" dirty="0" err="1">
                <a:solidFill>
                  <a:srgbClr val="3D3838"/>
                </a:solidFill>
                <a:latin typeface="Source Sans 3" pitchFamily="34" charset="0"/>
              </a:rPr>
              <a:t>operación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–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guía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para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el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equipo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que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</a:rPr>
              <a:t> lo </a:t>
            </a:r>
            <a:r>
              <a:rPr lang="en-US" sz="1900" dirty="0" err="1">
                <a:solidFill>
                  <a:srgbClr val="3D3838"/>
                </a:solidFill>
                <a:latin typeface="Source Sans 3" pitchFamily="34" charset="0"/>
              </a:rPr>
              <a:t>administrará</a:t>
            </a:r>
            <a:endParaRPr lang="en-US" sz="1900" dirty="0">
              <a:solidFill>
                <a:srgbClr val="3D3838"/>
              </a:solidFill>
              <a:latin typeface="Source Sans 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669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09" y="801410"/>
            <a:ext cx="9547622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Fase 7: Monitoreo y Mantenimiento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96409" y="1867376"/>
            <a:ext cx="13037582" cy="6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vez el bot está en producción, la gestión continua es crucial para asegurar su rendimiento óptimo y adaptarse a los cambios del entorno.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6409" y="2759154"/>
            <a:ext cx="4206002" cy="682585"/>
          </a:xfrm>
          <a:prstGeom prst="roundRect">
            <a:avLst>
              <a:gd name="adj" fmla="val 48004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8793" y="2929771"/>
            <a:ext cx="341233" cy="3412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3938" y="3651409"/>
            <a:ext cx="2710577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Monitoreo Continuo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3938" y="4100512"/>
            <a:ext cx="3750945" cy="196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Seguimiento proactivo del rendimiento del bot, registrando métricas clave como tiempo de ejecución, volumen de transacciones procesadas y tasa de éxito. Esto permite detectar anomalías y fallas en tiempo real.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2080" y="2759154"/>
            <a:ext cx="4206121" cy="682585"/>
          </a:xfrm>
          <a:prstGeom prst="roundRect">
            <a:avLst>
              <a:gd name="adj" fmla="val 48004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464" y="2929771"/>
            <a:ext cx="341233" cy="3412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39608" y="3651409"/>
            <a:ext cx="317706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Manejo de Excepciones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39608" y="4100512"/>
            <a:ext cx="3751064" cy="196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protocolos para la gestión eficiente de errores no previstos, asegurando que el bot pueda recuperarse o alertar a un operador humano cuando sea necesario, minimizando interrupciones.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27870" y="2759154"/>
            <a:ext cx="4206121" cy="682585"/>
          </a:xfrm>
          <a:prstGeom prst="roundRect">
            <a:avLst>
              <a:gd name="adj" fmla="val 48004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254" y="2929771"/>
            <a:ext cx="341233" cy="3412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55398" y="3651409"/>
            <a:ext cx="3492222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Actualizaciones y Mejoras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855398" y="4100512"/>
            <a:ext cx="3751064" cy="196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Realización de ajustes, parches y mejoras funcionales basados en el feedback de los usuarios y en la evolución de los sistemas integrados. Esto garantiza que el bot se mantenga relevante y eficiente a largo plazo.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96409" y="6531412"/>
            <a:ext cx="13037582" cy="896779"/>
          </a:xfrm>
          <a:prstGeom prst="roundRect">
            <a:avLst>
              <a:gd name="adj" fmla="val 380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38" y="6852761"/>
            <a:ext cx="284321" cy="2275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5787" y="6797873"/>
            <a:ext cx="1207067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Entregables:</a:t>
            </a: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Informes de desempeño, registro de incidencias y soluciones, y planes de mejora continua del bot.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37F008D-E08F-B9F1-32F3-F9F0BC4EDA8E}"/>
              </a:ext>
            </a:extLst>
          </p:cNvPr>
          <p:cNvSpPr txBox="1"/>
          <p:nvPr/>
        </p:nvSpPr>
        <p:spPr>
          <a:xfrm>
            <a:off x="863029" y="729465"/>
            <a:ext cx="3267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latin typeface="Montserrat Bold" pitchFamily="2" charset="0"/>
              </a:rPr>
              <a:t>Bibliografía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CF977D-453E-8C71-289F-B64C46FA0FA6}"/>
              </a:ext>
            </a:extLst>
          </p:cNvPr>
          <p:cNvSpPr txBox="1"/>
          <p:nvPr/>
        </p:nvSpPr>
        <p:spPr>
          <a:xfrm>
            <a:off x="863029" y="1880171"/>
            <a:ext cx="1092142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ans 3" panose="020B0604020202020204" charset="0"/>
              </a:rPr>
              <a:t>IBM. (2026). What is robotic process automation (RPA)? </a:t>
            </a:r>
            <a:r>
              <a:rPr lang="en-US" dirty="0">
                <a:latin typeface="Source Sans 3" panose="020B0604020202020204" charset="0"/>
                <a:hlinkClick r:id="rId2"/>
              </a:rPr>
              <a:t>https://www.ibm.com/topics/rpa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ans 3" panose="020B0604020202020204" charset="0"/>
              </a:rPr>
              <a:t>Oracle. (2026). What is robotic process automation? </a:t>
            </a:r>
            <a:r>
              <a:rPr lang="en-US" dirty="0">
                <a:latin typeface="Source Sans 3" panose="020B0604020202020204" charset="0"/>
                <a:hlinkClick r:id="rId3"/>
              </a:rPr>
              <a:t>https://www.oracle.com/mx/automation/what-is-rpa/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ans 3" panose="020B0604020202020204" charset="0"/>
              </a:rPr>
              <a:t>Object Management Group. (2013). Business Process Model and Notation (BPMN) Version 2.0.2. </a:t>
            </a:r>
            <a:r>
              <a:rPr lang="en-US" dirty="0">
                <a:latin typeface="Source Sans 3" panose="020B0604020202020204" charset="0"/>
                <a:hlinkClick r:id="rId4"/>
              </a:rPr>
              <a:t>https://www.omg.org/spec/BPMN/2.0.2/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>
                <a:latin typeface="Source Sans 3" panose="020B0604020202020204" charset="0"/>
              </a:rPr>
              <a:t>UiPath</a:t>
            </a:r>
            <a:r>
              <a:rPr lang="es-MX" dirty="0">
                <a:latin typeface="Source Sans 3" panose="020B0604020202020204" charset="0"/>
              </a:rPr>
              <a:t>. (2026). </a:t>
            </a:r>
            <a:r>
              <a:rPr lang="es-MX" dirty="0" err="1">
                <a:latin typeface="Source Sans 3" panose="020B0604020202020204" charset="0"/>
              </a:rPr>
              <a:t>UiPath</a:t>
            </a:r>
            <a:r>
              <a:rPr lang="es-MX" dirty="0">
                <a:latin typeface="Source Sans 3" panose="020B0604020202020204" charset="0"/>
              </a:rPr>
              <a:t> </a:t>
            </a:r>
            <a:r>
              <a:rPr lang="es-MX" dirty="0" err="1">
                <a:latin typeface="Source Sans 3" panose="020B0604020202020204" charset="0"/>
              </a:rPr>
              <a:t>documentation</a:t>
            </a:r>
            <a:r>
              <a:rPr lang="es-MX" dirty="0">
                <a:latin typeface="Source Sans 3" panose="020B0604020202020204" charset="0"/>
              </a:rPr>
              <a:t>. </a:t>
            </a:r>
            <a:r>
              <a:rPr lang="es-MX" dirty="0">
                <a:latin typeface="Source Sans 3" panose="020B0604020202020204" charset="0"/>
                <a:hlinkClick r:id="rId5"/>
              </a:rPr>
              <a:t>https://docs.uipath.com/</a:t>
            </a:r>
            <a:endParaRPr lang="es-MX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>
                <a:latin typeface="Source Sans 3" panose="020B0604020202020204" charset="0"/>
              </a:rPr>
              <a:t>Automation</a:t>
            </a:r>
            <a:r>
              <a:rPr lang="es-MX" dirty="0">
                <a:latin typeface="Source Sans 3" panose="020B0604020202020204" charset="0"/>
              </a:rPr>
              <a:t> </a:t>
            </a:r>
            <a:r>
              <a:rPr lang="es-MX" dirty="0" err="1">
                <a:latin typeface="Source Sans 3" panose="020B0604020202020204" charset="0"/>
              </a:rPr>
              <a:t>Anywhere</a:t>
            </a:r>
            <a:r>
              <a:rPr lang="es-MX" dirty="0">
                <a:latin typeface="Source Sans 3" panose="020B0604020202020204" charset="0"/>
              </a:rPr>
              <a:t>. (2026). </a:t>
            </a:r>
            <a:r>
              <a:rPr lang="es-MX" dirty="0" err="1">
                <a:latin typeface="Source Sans 3" panose="020B0604020202020204" charset="0"/>
              </a:rPr>
              <a:t>Automation</a:t>
            </a:r>
            <a:r>
              <a:rPr lang="es-MX" dirty="0">
                <a:latin typeface="Source Sans 3" panose="020B0604020202020204" charset="0"/>
              </a:rPr>
              <a:t> </a:t>
            </a:r>
            <a:r>
              <a:rPr lang="es-MX" dirty="0" err="1">
                <a:latin typeface="Source Sans 3" panose="020B0604020202020204" charset="0"/>
              </a:rPr>
              <a:t>Anywhere</a:t>
            </a:r>
            <a:r>
              <a:rPr lang="es-MX" dirty="0">
                <a:latin typeface="Source Sans 3" panose="020B0604020202020204" charset="0"/>
              </a:rPr>
              <a:t> </a:t>
            </a:r>
            <a:r>
              <a:rPr lang="es-MX" dirty="0" err="1">
                <a:latin typeface="Source Sans 3" panose="020B0604020202020204" charset="0"/>
              </a:rPr>
              <a:t>documentation</a:t>
            </a:r>
            <a:r>
              <a:rPr lang="es-MX" dirty="0">
                <a:latin typeface="Source Sans 3" panose="020B0604020202020204" charset="0"/>
              </a:rPr>
              <a:t>. </a:t>
            </a:r>
            <a:r>
              <a:rPr lang="es-MX" dirty="0">
                <a:latin typeface="Source Sans 3" panose="020B0604020202020204" charset="0"/>
                <a:hlinkClick r:id="rId6"/>
              </a:rPr>
              <a:t>https://docs.automationanywhere.com/</a:t>
            </a:r>
            <a:endParaRPr lang="es-MX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Source Sans 3" panose="020B0604020202020204" charset="0"/>
              </a:rPr>
              <a:t>Microsoft. (2026). </a:t>
            </a:r>
            <a:r>
              <a:rPr lang="es-MX" dirty="0" err="1">
                <a:latin typeface="Source Sans 3" panose="020B0604020202020204" charset="0"/>
              </a:rPr>
              <a:t>Official</a:t>
            </a:r>
            <a:r>
              <a:rPr lang="es-MX" dirty="0">
                <a:latin typeface="Source Sans 3" panose="020B0604020202020204" charset="0"/>
              </a:rPr>
              <a:t> Microsoft Power </a:t>
            </a:r>
            <a:r>
              <a:rPr lang="es-MX" dirty="0" err="1">
                <a:latin typeface="Source Sans 3" panose="020B0604020202020204" charset="0"/>
              </a:rPr>
              <a:t>Automate</a:t>
            </a:r>
            <a:r>
              <a:rPr lang="es-MX" dirty="0">
                <a:latin typeface="Source Sans 3" panose="020B0604020202020204" charset="0"/>
              </a:rPr>
              <a:t> </a:t>
            </a:r>
            <a:r>
              <a:rPr lang="es-MX" dirty="0" err="1">
                <a:latin typeface="Source Sans 3" panose="020B0604020202020204" charset="0"/>
              </a:rPr>
              <a:t>documentation</a:t>
            </a:r>
            <a:r>
              <a:rPr lang="es-MX" dirty="0">
                <a:latin typeface="Source Sans 3" panose="020B0604020202020204" charset="0"/>
              </a:rPr>
              <a:t>. Microsoft Learn. </a:t>
            </a:r>
            <a:r>
              <a:rPr lang="es-MX" dirty="0">
                <a:latin typeface="Source Sans 3" panose="020B0604020202020204" charset="0"/>
                <a:hlinkClick r:id="rId7"/>
              </a:rPr>
              <a:t>https://learn.microsoft.com/en-us/power-automate/</a:t>
            </a:r>
            <a:endParaRPr lang="es-MX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ans 3" panose="020B0604020202020204" charset="0"/>
              </a:rPr>
              <a:t>n8n. (2026). n8n docs: Your resource for workflow automation and integrations. </a:t>
            </a:r>
            <a:r>
              <a:rPr lang="en-US" dirty="0">
                <a:latin typeface="Source Sans 3" panose="020B0604020202020204" charset="0"/>
                <a:hlinkClick r:id="rId8"/>
              </a:rPr>
              <a:t>https://docs.n8n.io/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ans 3" panose="020B0604020202020204" charset="0"/>
              </a:rPr>
              <a:t>Le, A. T. (2025, mayo 10). Understanding n8n: Architecture and core concepts. Tuan Le's Blog. </a:t>
            </a:r>
            <a:r>
              <a:rPr lang="en-US" dirty="0">
                <a:latin typeface="Source Sans 3" panose="020B0604020202020204" charset="0"/>
                <a:hlinkClick r:id="rId9"/>
              </a:rPr>
              <a:t>https://tuanla.vn/post/n8n/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ource Sans 3" panose="020B0604020202020204" charset="0"/>
              </a:rPr>
              <a:t>DeepWiki</a:t>
            </a:r>
            <a:r>
              <a:rPr lang="en-US" dirty="0">
                <a:latin typeface="Source Sans 3" panose="020B0604020202020204" charset="0"/>
              </a:rPr>
              <a:t>. (2026). Runtime architecture and process models. En n8n-io/n8n wiki. </a:t>
            </a:r>
            <a:r>
              <a:rPr lang="en-US" dirty="0">
                <a:latin typeface="Source Sans 3" panose="020B0604020202020204" charset="0"/>
                <a:hlinkClick r:id="rId10"/>
              </a:rPr>
              <a:t>https://deepwiki.com/n8n-io/n8n/1.2-architecture-overview</a:t>
            </a:r>
            <a:endParaRPr lang="en-US" dirty="0">
              <a:latin typeface="Source Sans 3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dirty="0">
              <a:latin typeface="Source Sans 3" panose="020B0604020202020204" charset="0"/>
            </a:endParaRPr>
          </a:p>
          <a:p>
            <a:endParaRPr lang="en-US" sz="2000"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2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1733</Words>
  <Application>Microsoft Office PowerPoint</Application>
  <PresentationFormat>Personalizado</PresentationFormat>
  <Paragraphs>262</Paragraphs>
  <Slides>18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Source Sans 3</vt:lpstr>
      <vt:lpstr>Arial</vt:lpstr>
      <vt:lpstr>Montserrat</vt:lpstr>
      <vt:lpstr>Montserrat Bold</vt:lpstr>
      <vt:lpstr>Montserrat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Pablo Arellano</cp:lastModifiedBy>
  <cp:revision>14</cp:revision>
  <dcterms:created xsi:type="dcterms:W3CDTF">2026-04-28T23:50:41Z</dcterms:created>
  <dcterms:modified xsi:type="dcterms:W3CDTF">2026-10-13T04:36:28Z</dcterms:modified>
</cp:coreProperties>
</file>